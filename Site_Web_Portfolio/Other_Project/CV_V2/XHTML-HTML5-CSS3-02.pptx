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39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650" autoAdjust="0"/>
  </p:normalViewPr>
  <p:slideViewPr>
    <p:cSldViewPr>
      <p:cViewPr varScale="1">
        <p:scale>
          <a:sx n="85" d="100"/>
          <a:sy n="85" d="100"/>
        </p:scale>
        <p:origin x="154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37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03/05/2018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www.w3schools.com/colors/colors_names.asp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lumMod val="75000"/>
                <a:lumOff val="25000"/>
              </a:schemeClr>
            </a:gs>
            <a:gs pos="91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7544" y="288033"/>
            <a:ext cx="8208912" cy="1772816"/>
          </a:xfrm>
          <a:ln w="28575">
            <a:solidFill>
              <a:srgbClr val="E1393D"/>
            </a:solidFill>
            <a:prstDash val="solid"/>
          </a:ln>
        </p:spPr>
        <p:txBody>
          <a:bodyPr/>
          <a:lstStyle/>
          <a:p>
            <a:r>
              <a:rPr lang="fr-FR" dirty="0" smtClean="0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XHTML-HTML5-CSS3</a:t>
            </a:r>
            <a:endParaRPr lang="fr-FR" dirty="0">
              <a:solidFill>
                <a:schemeClr val="bg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9512" y="2924945"/>
            <a:ext cx="8784976" cy="2520280"/>
          </a:xfrm>
        </p:spPr>
        <p:txBody>
          <a:bodyPr anchor="ctr"/>
          <a:lstStyle/>
          <a:p>
            <a:r>
              <a:rPr lang="fr-FR" dirty="0" smtClean="0">
                <a:solidFill>
                  <a:schemeClr val="bg1">
                    <a:lumMod val="95000"/>
                  </a:schemeClr>
                </a:solidFill>
                <a:latin typeface="Consolas" pitchFamily="49" charset="0"/>
                <a:cs typeface="Consolas" pitchFamily="49" charset="0"/>
              </a:rPr>
              <a:t>CSS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2492897"/>
            <a:ext cx="6588224" cy="360040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7380312" y="2492897"/>
            <a:ext cx="1763688" cy="360040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2555776" y="5589240"/>
            <a:ext cx="6588224" cy="360040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0" y="5589240"/>
            <a:ext cx="1763688" cy="360040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294112" y="6309321"/>
            <a:ext cx="324036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 err="1" smtClean="0"/>
              <a:t>Dini</a:t>
            </a:r>
            <a:r>
              <a:rPr lang="fr-CA" dirty="0" smtClean="0"/>
              <a:t> </a:t>
            </a:r>
            <a:r>
              <a:rPr lang="fr-CA" dirty="0" err="1" smtClean="0"/>
              <a:t>Ahamada</a:t>
            </a: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E1393D"/>
            </a:solidFill>
          </a:ln>
        </p:spPr>
        <p:txBody>
          <a:bodyPr>
            <a:normAutofit/>
          </a:bodyPr>
          <a:lstStyle/>
          <a:p>
            <a:r>
              <a:rPr lang="fr-FR" sz="3200" b="1" smtClean="0">
                <a:latin typeface="Consolas" pitchFamily="49" charset="0"/>
                <a:cs typeface="Consolas" pitchFamily="49" charset="0"/>
              </a:rPr>
              <a:t>Introduction - </a:t>
            </a:r>
            <a:r>
              <a:rPr lang="fr-FR" sz="3200" smtClean="0">
                <a:latin typeface="Consolas" pitchFamily="49" charset="0"/>
                <a:cs typeface="Consolas" pitchFamily="49" charset="0"/>
              </a:rPr>
              <a:t>CSS, c'est quoi ?</a:t>
            </a:r>
            <a:endParaRPr lang="fr-FR" sz="32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88839"/>
          </a:xfrm>
        </p:spPr>
        <p:txBody>
          <a:bodyPr>
            <a:normAutofit fontScale="70000" lnSpcReduction="20000"/>
          </a:bodyPr>
          <a:lstStyle/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CSS ou </a:t>
            </a:r>
            <a:r>
              <a:rPr lang="fr-FR" dirty="0" err="1" smtClean="0">
                <a:latin typeface="Consolas" pitchFamily="49" charset="0"/>
                <a:cs typeface="Consolas" pitchFamily="49" charset="0"/>
              </a:rPr>
              <a:t>Cascading</a:t>
            </a:r>
            <a:r>
              <a:rPr lang="fr-FR" dirty="0" smtClean="0">
                <a:latin typeface="Consolas" pitchFamily="49" charset="0"/>
                <a:cs typeface="Consolas" pitchFamily="49" charset="0"/>
              </a:rPr>
              <a:t> Style </a:t>
            </a:r>
            <a:r>
              <a:rPr lang="fr-FR" dirty="0" err="1" smtClean="0">
                <a:latin typeface="Consolas" pitchFamily="49" charset="0"/>
                <a:cs typeface="Consolas" pitchFamily="49" charset="0"/>
              </a:rPr>
              <a:t>Sheets</a:t>
            </a:r>
            <a:r>
              <a:rPr lang="fr-FR" dirty="0" smtClean="0">
                <a:latin typeface="Consolas" pitchFamily="49" charset="0"/>
                <a:cs typeface="Consolas" pitchFamily="49" charset="0"/>
              </a:rPr>
              <a:t> ou feuilles de style en cascade</a:t>
            </a:r>
          </a:p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HTML on construit la structure de la page</a:t>
            </a:r>
          </a:p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Avec CSS on va faire la mise en forme de la page html </a:t>
            </a:r>
            <a:endParaRPr lang="fr-FR" dirty="0">
              <a:latin typeface="Consolas" pitchFamily="49" charset="0"/>
              <a:cs typeface="Consolas" pitchFamily="49" charset="0"/>
            </a:endParaRPr>
          </a:p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Avec bon CSS on va changer complètement le look d'une même page -&gt; CSS Zen Garden</a:t>
            </a:r>
          </a:p>
          <a:p>
            <a:endParaRPr lang="en-CA" dirty="0" smtClean="0">
              <a:latin typeface="Consolas" pitchFamily="49" charset="0"/>
              <a:cs typeface="Consolas" pitchFamily="49" charset="0"/>
            </a:endParaRPr>
          </a:p>
          <a:p>
            <a:endParaRPr lang="en-CA" dirty="0" smtClean="0">
              <a:latin typeface="Consolas" pitchFamily="49" charset="0"/>
              <a:cs typeface="Consolas" pitchFamily="49" charset="0"/>
            </a:endParaRPr>
          </a:p>
          <a:p>
            <a:endParaRPr lang="fr-FR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81329"/>
            <a:ext cx="8172400" cy="144016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8532440" y="6381329"/>
            <a:ext cx="611560" cy="144016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Screenshot #00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544" y="3861048"/>
            <a:ext cx="2560320" cy="17670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age 7" descr="Screenshot #002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9872" y="4221088"/>
            <a:ext cx="2560320" cy="17670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age 8" descr="Screenshot #003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28184" y="4509120"/>
            <a:ext cx="2560320" cy="17670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E1393D"/>
            </a:solidFill>
          </a:ln>
        </p:spPr>
        <p:txBody>
          <a:bodyPr>
            <a:normAutofit/>
          </a:bodyPr>
          <a:lstStyle/>
          <a:p>
            <a:r>
              <a:rPr lang="fr-FR" sz="3200" b="1" dirty="0" smtClean="0">
                <a:latin typeface="Consolas" pitchFamily="49" charset="0"/>
                <a:cs typeface="Consolas" pitchFamily="49" charset="0"/>
              </a:rPr>
              <a:t>Les versions</a:t>
            </a:r>
            <a:endParaRPr lang="fr-FR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CSS est retro-compatible avec ancienne version</a:t>
            </a:r>
          </a:p>
          <a:p>
            <a:pPr>
              <a:buNone/>
            </a:pPr>
            <a:r>
              <a:rPr lang="fr-FR" dirty="0" smtClean="0">
                <a:latin typeface="Consolas" pitchFamily="49" charset="0"/>
                <a:cs typeface="Consolas" pitchFamily="49" charset="0"/>
              </a:rPr>
              <a:t> </a:t>
            </a:r>
          </a:p>
          <a:p>
            <a:pPr lvl="0"/>
            <a:r>
              <a:rPr lang="fr-CA" b="1" dirty="0" smtClean="0"/>
              <a:t>1996-CSS 1.0</a:t>
            </a:r>
            <a:r>
              <a:rPr lang="fr-CA" dirty="0" smtClean="0"/>
              <a:t>	Environ 50 propriétés</a:t>
            </a:r>
          </a:p>
          <a:p>
            <a:pPr lvl="0"/>
            <a:r>
              <a:rPr lang="fr-CA" dirty="0" smtClean="0"/>
              <a:t>1997-CSS 2.0   Début </a:t>
            </a:r>
          </a:p>
          <a:p>
            <a:pPr lvl="0"/>
            <a:r>
              <a:rPr lang="fr-CA" b="1" dirty="0" smtClean="0"/>
              <a:t>1998-CSS 2.0</a:t>
            </a:r>
            <a:r>
              <a:rPr lang="fr-CA" dirty="0" smtClean="0"/>
              <a:t>	Environ 115 propriétés</a:t>
            </a:r>
          </a:p>
          <a:p>
            <a:pPr lvl="0"/>
            <a:r>
              <a:rPr lang="fr-CA" dirty="0" smtClean="0"/>
              <a:t>1999-CSS 3.0 Début </a:t>
            </a:r>
          </a:p>
          <a:p>
            <a:pPr lvl="0"/>
            <a:r>
              <a:rPr lang="fr-CA" dirty="0" smtClean="0"/>
              <a:t>2001-CSS 2.1 Début </a:t>
            </a:r>
          </a:p>
          <a:p>
            <a:pPr lvl="0"/>
            <a:r>
              <a:rPr lang="fr-CA" b="1" dirty="0" smtClean="0"/>
              <a:t>2010-CSS 2.1	</a:t>
            </a:r>
            <a:endParaRPr lang="fr-CA" dirty="0" smtClean="0"/>
          </a:p>
          <a:p>
            <a:pPr lvl="0"/>
            <a:r>
              <a:rPr lang="fr-CA" b="1" dirty="0" smtClean="0"/>
              <a:t>20??-CSS 3.0	≈</a:t>
            </a:r>
            <a:r>
              <a:rPr lang="fr-CA" dirty="0" smtClean="0"/>
              <a:t>275 propriétés</a:t>
            </a:r>
            <a:endParaRPr lang="fr-FR" dirty="0" smtClean="0">
              <a:latin typeface="Consolas" pitchFamily="49" charset="0"/>
              <a:cs typeface="Consolas" pitchFamily="49" charset="0"/>
            </a:endParaRPr>
          </a:p>
          <a:p>
            <a:endParaRPr lang="fr-FR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81329"/>
            <a:ext cx="8172400" cy="144016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8532440" y="6381329"/>
            <a:ext cx="611560" cy="144016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E1393D"/>
            </a:solidFill>
          </a:ln>
        </p:spPr>
        <p:txBody>
          <a:bodyPr>
            <a:normAutofit/>
          </a:bodyPr>
          <a:lstStyle/>
          <a:p>
            <a:r>
              <a:rPr lang="fr-FR" sz="3200" smtClean="0">
                <a:latin typeface="Consolas" pitchFamily="49" charset="0"/>
                <a:cs typeface="Consolas" pitchFamily="49" charset="0"/>
              </a:rPr>
              <a:t>Ajouter du CSS</a:t>
            </a:r>
            <a:endParaRPr lang="fr-FR" sz="320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fr-FR" sz="2400" dirty="0" smtClean="0">
                <a:latin typeface="Consolas" pitchFamily="49" charset="0"/>
                <a:cs typeface="Consolas" pitchFamily="49" charset="0"/>
              </a:rPr>
              <a:t>3 façons de faire : </a:t>
            </a:r>
          </a:p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Directement dans la page HTML entre les balises &lt;</a:t>
            </a:r>
            <a:r>
              <a:rPr lang="fr-FR" dirty="0" err="1" smtClean="0">
                <a:latin typeface="Consolas" pitchFamily="49" charset="0"/>
                <a:cs typeface="Consolas" pitchFamily="49" charset="0"/>
              </a:rPr>
              <a:t>head</a:t>
            </a:r>
            <a:r>
              <a:rPr lang="fr-FR" dirty="0" smtClean="0">
                <a:latin typeface="Consolas" pitchFamily="49" charset="0"/>
                <a:cs typeface="Consolas" pitchFamily="49" charset="0"/>
              </a:rPr>
              <a:t>&gt;.(Mauvaise pratique)</a:t>
            </a:r>
          </a:p>
          <a:p>
            <a:pPr>
              <a:buNone/>
            </a:pPr>
            <a:r>
              <a:rPr lang="fr-FR" sz="2400" dirty="0" smtClean="0">
                <a:solidFill>
                  <a:srgbClr val="008080"/>
                </a:solidFill>
              </a:rPr>
              <a:t>&lt;</a:t>
            </a:r>
            <a:r>
              <a:rPr lang="fr-FR" sz="2400" dirty="0" err="1" smtClean="0">
                <a:solidFill>
                  <a:srgbClr val="3F7F7F"/>
                </a:solidFill>
              </a:rPr>
              <a:t>head</a:t>
            </a:r>
            <a:r>
              <a:rPr lang="fr-FR" sz="2400" dirty="0" smtClean="0">
                <a:solidFill>
                  <a:srgbClr val="008080"/>
                </a:solidFill>
              </a:rPr>
              <a:t>&gt;</a:t>
            </a:r>
          </a:p>
          <a:p>
            <a:pPr>
              <a:buNone/>
            </a:pPr>
            <a:r>
              <a:rPr lang="fr-FR" sz="2400" dirty="0" smtClean="0">
                <a:solidFill>
                  <a:srgbClr val="008080"/>
                </a:solidFill>
              </a:rPr>
              <a:t>	&lt;</a:t>
            </a:r>
            <a:r>
              <a:rPr lang="fr-FR" sz="2400" dirty="0" err="1" smtClean="0">
                <a:solidFill>
                  <a:srgbClr val="3F7F7F"/>
                </a:solidFill>
              </a:rPr>
              <a:t>meta</a:t>
            </a:r>
            <a:r>
              <a:rPr lang="fr-FR" sz="2400" dirty="0" smtClean="0">
                <a:solidFill>
                  <a:srgbClr val="3F7F7F"/>
                </a:solidFill>
              </a:rPr>
              <a:t> </a:t>
            </a:r>
            <a:r>
              <a:rPr lang="fr-FR" sz="2400" dirty="0" err="1" smtClean="0">
                <a:solidFill>
                  <a:srgbClr val="7F007F"/>
                </a:solidFill>
              </a:rPr>
              <a:t>charset</a:t>
            </a:r>
            <a:r>
              <a:rPr lang="fr-FR" sz="2400" dirty="0" smtClean="0">
                <a:solidFill>
                  <a:srgbClr val="000000"/>
                </a:solidFill>
              </a:rPr>
              <a:t>=</a:t>
            </a:r>
            <a:r>
              <a:rPr lang="fr-FR" sz="2400" i="1" dirty="0" smtClean="0">
                <a:solidFill>
                  <a:srgbClr val="2A00FF"/>
                </a:solidFill>
              </a:rPr>
              <a:t>"UTF-8"</a:t>
            </a:r>
            <a:r>
              <a:rPr lang="fr-FR" sz="2400" i="1" dirty="0" smtClean="0">
                <a:solidFill>
                  <a:srgbClr val="008080"/>
                </a:solidFill>
              </a:rPr>
              <a:t>&gt;</a:t>
            </a:r>
          </a:p>
          <a:p>
            <a:pPr>
              <a:buNone/>
            </a:pPr>
            <a:r>
              <a:rPr lang="fr-FR" sz="2400" dirty="0" smtClean="0">
                <a:solidFill>
                  <a:srgbClr val="008080"/>
                </a:solidFill>
              </a:rPr>
              <a:t>	&lt;</a:t>
            </a:r>
            <a:r>
              <a:rPr lang="fr-FR" sz="2400" dirty="0" err="1" smtClean="0">
                <a:solidFill>
                  <a:srgbClr val="3F7F7F"/>
                </a:solidFill>
              </a:rPr>
              <a:t>title</a:t>
            </a:r>
            <a:r>
              <a:rPr lang="fr-FR" sz="2400" dirty="0" smtClean="0">
                <a:solidFill>
                  <a:srgbClr val="008080"/>
                </a:solidFill>
              </a:rPr>
              <a:t>&gt;</a:t>
            </a:r>
            <a:r>
              <a:rPr lang="fr-FR" sz="2400" dirty="0" smtClean="0">
                <a:solidFill>
                  <a:srgbClr val="000000"/>
                </a:solidFill>
              </a:rPr>
              <a:t>Insert </a:t>
            </a:r>
            <a:r>
              <a:rPr lang="fr-FR" sz="2400" dirty="0" err="1" smtClean="0">
                <a:solidFill>
                  <a:srgbClr val="000000"/>
                </a:solidFill>
              </a:rPr>
              <a:t>title</a:t>
            </a:r>
            <a:r>
              <a:rPr lang="fr-FR" sz="2400" dirty="0" smtClean="0">
                <a:solidFill>
                  <a:srgbClr val="000000"/>
                </a:solidFill>
              </a:rPr>
              <a:t> </a:t>
            </a:r>
            <a:r>
              <a:rPr lang="fr-FR" sz="2400" dirty="0" err="1" smtClean="0">
                <a:solidFill>
                  <a:srgbClr val="000000"/>
                </a:solidFill>
              </a:rPr>
              <a:t>here</a:t>
            </a:r>
            <a:r>
              <a:rPr lang="fr-FR" sz="2400" dirty="0" smtClean="0">
                <a:solidFill>
                  <a:srgbClr val="008080"/>
                </a:solidFill>
              </a:rPr>
              <a:t>&lt;/</a:t>
            </a:r>
            <a:r>
              <a:rPr lang="fr-FR" sz="2400" dirty="0" err="1" smtClean="0">
                <a:solidFill>
                  <a:srgbClr val="3F7F7F"/>
                </a:solidFill>
              </a:rPr>
              <a:t>title</a:t>
            </a:r>
            <a:r>
              <a:rPr lang="fr-FR" sz="2400" dirty="0" smtClean="0">
                <a:solidFill>
                  <a:srgbClr val="008080"/>
                </a:solidFill>
              </a:rPr>
              <a:t>&gt;</a:t>
            </a:r>
          </a:p>
          <a:p>
            <a:pPr>
              <a:buNone/>
            </a:pPr>
            <a:r>
              <a:rPr lang="fr-FR" sz="2400" dirty="0" smtClean="0">
                <a:solidFill>
                  <a:srgbClr val="008080"/>
                </a:solidFill>
              </a:rPr>
              <a:t>	&lt;</a:t>
            </a:r>
            <a:r>
              <a:rPr lang="fr-FR" sz="2400" dirty="0" smtClean="0">
                <a:solidFill>
                  <a:srgbClr val="3F7F7F"/>
                </a:solidFill>
              </a:rPr>
              <a:t>style </a:t>
            </a:r>
            <a:r>
              <a:rPr lang="fr-FR" sz="2400" dirty="0" smtClean="0">
                <a:solidFill>
                  <a:srgbClr val="7F007F"/>
                </a:solidFill>
              </a:rPr>
              <a:t>type</a:t>
            </a:r>
            <a:r>
              <a:rPr lang="fr-FR" sz="2400" dirty="0" smtClean="0">
                <a:solidFill>
                  <a:srgbClr val="000000"/>
                </a:solidFill>
              </a:rPr>
              <a:t>=</a:t>
            </a:r>
            <a:r>
              <a:rPr lang="fr-FR" sz="2400" i="1" dirty="0" smtClean="0">
                <a:solidFill>
                  <a:srgbClr val="2A00FF"/>
                </a:solidFill>
              </a:rPr>
              <a:t>"</a:t>
            </a:r>
            <a:r>
              <a:rPr lang="fr-FR" sz="2400" i="1" dirty="0" err="1" smtClean="0">
                <a:solidFill>
                  <a:srgbClr val="2A00FF"/>
                </a:solidFill>
              </a:rPr>
              <a:t>text</a:t>
            </a:r>
            <a:r>
              <a:rPr lang="fr-FR" sz="2400" i="1" dirty="0" smtClean="0">
                <a:solidFill>
                  <a:srgbClr val="2A00FF"/>
                </a:solidFill>
              </a:rPr>
              <a:t>/</a:t>
            </a:r>
            <a:r>
              <a:rPr lang="fr-FR" sz="2400" i="1" dirty="0" err="1" smtClean="0">
                <a:solidFill>
                  <a:srgbClr val="2A00FF"/>
                </a:solidFill>
              </a:rPr>
              <a:t>css</a:t>
            </a:r>
            <a:r>
              <a:rPr lang="fr-FR" sz="2400" i="1" dirty="0" smtClean="0">
                <a:solidFill>
                  <a:srgbClr val="2A00FF"/>
                </a:solidFill>
              </a:rPr>
              <a:t>"</a:t>
            </a:r>
            <a:r>
              <a:rPr lang="fr-FR" sz="2400" i="1" dirty="0" smtClean="0">
                <a:solidFill>
                  <a:srgbClr val="008080"/>
                </a:solidFill>
              </a:rPr>
              <a:t>&gt;</a:t>
            </a:r>
          </a:p>
          <a:p>
            <a:pPr>
              <a:buNone/>
            </a:pPr>
            <a:r>
              <a:rPr lang="fr-FR" sz="2400" b="1" dirty="0" smtClean="0">
                <a:solidFill>
                  <a:srgbClr val="3F7F7F"/>
                </a:solidFill>
              </a:rPr>
              <a:t>		p</a:t>
            </a:r>
            <a:r>
              <a:rPr lang="fr-FR" sz="2400" b="1" dirty="0" smtClean="0">
                <a:solidFill>
                  <a:srgbClr val="000000"/>
                </a:solidFill>
              </a:rPr>
              <a:t> {</a:t>
            </a:r>
          </a:p>
          <a:p>
            <a:pPr>
              <a:buNone/>
            </a:pPr>
            <a:r>
              <a:rPr lang="fr-FR" sz="2400" dirty="0" smtClean="0">
                <a:solidFill>
                  <a:srgbClr val="7F007F"/>
                </a:solidFill>
              </a:rPr>
              <a:t>			</a:t>
            </a:r>
            <a:r>
              <a:rPr lang="fr-FR" sz="2400" dirty="0" err="1" smtClean="0">
                <a:solidFill>
                  <a:srgbClr val="7F007F"/>
                </a:solidFill>
              </a:rPr>
              <a:t>color</a:t>
            </a:r>
            <a:r>
              <a:rPr lang="fr-FR" sz="2400" dirty="0" smtClean="0">
                <a:solidFill>
                  <a:srgbClr val="000000"/>
                </a:solidFill>
              </a:rPr>
              <a:t>: </a:t>
            </a:r>
            <a:r>
              <a:rPr lang="fr-FR" sz="2400" i="1" dirty="0" err="1" smtClean="0">
                <a:solidFill>
                  <a:srgbClr val="2A00E1"/>
                </a:solidFill>
              </a:rPr>
              <a:t>red</a:t>
            </a:r>
            <a:r>
              <a:rPr lang="fr-FR" sz="2400" i="1" dirty="0" smtClean="0">
                <a:solidFill>
                  <a:srgbClr val="000000"/>
                </a:solidFill>
              </a:rPr>
              <a:t>;</a:t>
            </a:r>
          </a:p>
          <a:p>
            <a:pPr>
              <a:buNone/>
            </a:pPr>
            <a:r>
              <a:rPr lang="fr-FR" sz="2400" dirty="0" smtClean="0">
                <a:solidFill>
                  <a:srgbClr val="000000"/>
                </a:solidFill>
              </a:rPr>
              <a:t>		}</a:t>
            </a:r>
          </a:p>
          <a:p>
            <a:pPr>
              <a:buNone/>
            </a:pPr>
            <a:r>
              <a:rPr lang="fr-FR" sz="2400" dirty="0" smtClean="0">
                <a:solidFill>
                  <a:srgbClr val="008080"/>
                </a:solidFill>
              </a:rPr>
              <a:t>	&lt;/</a:t>
            </a:r>
            <a:r>
              <a:rPr lang="fr-FR" sz="2400" dirty="0" smtClean="0">
                <a:solidFill>
                  <a:srgbClr val="3F7F7F"/>
                </a:solidFill>
              </a:rPr>
              <a:t>style</a:t>
            </a:r>
            <a:r>
              <a:rPr lang="fr-FR" sz="2400" dirty="0" smtClean="0">
                <a:solidFill>
                  <a:srgbClr val="008080"/>
                </a:solidFill>
              </a:rPr>
              <a:t>&gt;</a:t>
            </a:r>
          </a:p>
          <a:p>
            <a:pPr>
              <a:buNone/>
            </a:pPr>
            <a:r>
              <a:rPr lang="fr-FR" sz="2400" dirty="0" smtClean="0">
                <a:solidFill>
                  <a:srgbClr val="008080"/>
                </a:solidFill>
              </a:rPr>
              <a:t>&lt;/</a:t>
            </a:r>
            <a:r>
              <a:rPr lang="fr-FR" sz="2400" dirty="0" err="1" smtClean="0">
                <a:solidFill>
                  <a:srgbClr val="3F7F7F"/>
                </a:solidFill>
              </a:rPr>
              <a:t>head</a:t>
            </a:r>
            <a:r>
              <a:rPr lang="fr-FR" sz="2400" dirty="0" smtClean="0">
                <a:solidFill>
                  <a:srgbClr val="008080"/>
                </a:solidFill>
              </a:rPr>
              <a:t>&gt;</a:t>
            </a:r>
          </a:p>
          <a:p>
            <a:pPr>
              <a:buNone/>
            </a:pPr>
            <a:endParaRPr lang="fr-FR" sz="2400" dirty="0" smtClean="0">
              <a:solidFill>
                <a:srgbClr val="008080"/>
              </a:solidFill>
            </a:endParaRPr>
          </a:p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Directement dans la page html, dans les balises html (très mauvaise pratique)</a:t>
            </a:r>
            <a:endParaRPr lang="fr-FR" dirty="0" smtClean="0"/>
          </a:p>
          <a:p>
            <a:pPr>
              <a:buNone/>
            </a:pPr>
            <a:r>
              <a:rPr lang="en-US" sz="2400" dirty="0" smtClean="0">
                <a:solidFill>
                  <a:srgbClr val="008080"/>
                </a:solidFill>
              </a:rPr>
              <a:t>	&lt;</a:t>
            </a:r>
            <a:r>
              <a:rPr lang="en-US" sz="2400" dirty="0" smtClean="0">
                <a:solidFill>
                  <a:srgbClr val="3F7F7F"/>
                </a:solidFill>
              </a:rPr>
              <a:t>h1 </a:t>
            </a:r>
            <a:r>
              <a:rPr lang="en-US" sz="2400" dirty="0" smtClean="0">
                <a:solidFill>
                  <a:srgbClr val="7F007F"/>
                </a:solidFill>
              </a:rPr>
              <a:t>style</a:t>
            </a:r>
            <a:r>
              <a:rPr lang="en-US" sz="2400" dirty="0" smtClean="0">
                <a:solidFill>
                  <a:srgbClr val="000000"/>
                </a:solidFill>
              </a:rPr>
              <a:t>="</a:t>
            </a:r>
            <a:r>
              <a:rPr lang="en-US" sz="2400" dirty="0" smtClean="0">
                <a:solidFill>
                  <a:srgbClr val="7F007F"/>
                </a:solidFill>
              </a:rPr>
              <a:t>color</a:t>
            </a:r>
            <a:r>
              <a:rPr lang="en-US" sz="2400" dirty="0" smtClean="0">
                <a:solidFill>
                  <a:srgbClr val="000000"/>
                </a:solidFill>
              </a:rPr>
              <a:t>: </a:t>
            </a:r>
            <a:r>
              <a:rPr lang="en-US" sz="2400" i="1" dirty="0" smtClean="0">
                <a:solidFill>
                  <a:srgbClr val="2A00E1"/>
                </a:solidFill>
              </a:rPr>
              <a:t>blue</a:t>
            </a:r>
            <a:r>
              <a:rPr lang="en-US" sz="2400" i="1" dirty="0" smtClean="0">
                <a:solidFill>
                  <a:srgbClr val="000000"/>
                </a:solidFill>
              </a:rPr>
              <a:t>;"</a:t>
            </a:r>
            <a:r>
              <a:rPr lang="en-US" sz="2400" i="1" dirty="0" smtClean="0">
                <a:solidFill>
                  <a:srgbClr val="008080"/>
                </a:solidFill>
              </a:rPr>
              <a:t>&gt;</a:t>
            </a:r>
            <a:r>
              <a:rPr lang="en-US" sz="2400" i="1" dirty="0" smtClean="0">
                <a:solidFill>
                  <a:srgbClr val="000000"/>
                </a:solidFill>
              </a:rPr>
              <a:t>Test CSS</a:t>
            </a:r>
            <a:r>
              <a:rPr lang="en-US" sz="2400" i="1" dirty="0" smtClean="0">
                <a:solidFill>
                  <a:srgbClr val="008080"/>
                </a:solidFill>
              </a:rPr>
              <a:t>&lt;/</a:t>
            </a:r>
            <a:r>
              <a:rPr lang="en-US" sz="2400" i="1" dirty="0" smtClean="0">
                <a:solidFill>
                  <a:srgbClr val="3F7F7F"/>
                </a:solidFill>
              </a:rPr>
              <a:t>h1</a:t>
            </a:r>
            <a:r>
              <a:rPr lang="en-US" sz="2400" i="1" dirty="0" smtClean="0">
                <a:solidFill>
                  <a:srgbClr val="008080"/>
                </a:solidFill>
              </a:rPr>
              <a:t>&gt;</a:t>
            </a:r>
          </a:p>
          <a:p>
            <a:pPr>
              <a:buNone/>
            </a:pPr>
            <a:r>
              <a:rPr lang="en-US" sz="2400" dirty="0" smtClean="0">
                <a:solidFill>
                  <a:srgbClr val="008080"/>
                </a:solidFill>
              </a:rPr>
              <a:t>	&lt;</a:t>
            </a:r>
            <a:r>
              <a:rPr lang="en-US" sz="2400" dirty="0" smtClean="0">
                <a:solidFill>
                  <a:srgbClr val="3F7F7F"/>
                </a:solidFill>
              </a:rPr>
              <a:t>p </a:t>
            </a:r>
            <a:r>
              <a:rPr lang="en-US" sz="2400" dirty="0" smtClean="0">
                <a:solidFill>
                  <a:srgbClr val="7F007F"/>
                </a:solidFill>
              </a:rPr>
              <a:t>style</a:t>
            </a:r>
            <a:r>
              <a:rPr lang="en-US" sz="2400" dirty="0" smtClean="0">
                <a:solidFill>
                  <a:srgbClr val="000000"/>
                </a:solidFill>
              </a:rPr>
              <a:t>="</a:t>
            </a:r>
            <a:r>
              <a:rPr lang="en-US" sz="2400" dirty="0" smtClean="0">
                <a:solidFill>
                  <a:srgbClr val="7F007F"/>
                </a:solidFill>
              </a:rPr>
              <a:t>color</a:t>
            </a:r>
            <a:r>
              <a:rPr lang="en-US" sz="2400" dirty="0" smtClean="0">
                <a:solidFill>
                  <a:srgbClr val="000000"/>
                </a:solidFill>
              </a:rPr>
              <a:t>: </a:t>
            </a:r>
            <a:r>
              <a:rPr lang="en-US" sz="2400" i="1" dirty="0" smtClean="0">
                <a:solidFill>
                  <a:srgbClr val="2A00E1"/>
                </a:solidFill>
              </a:rPr>
              <a:t>red</a:t>
            </a:r>
            <a:r>
              <a:rPr lang="en-US" sz="2400" i="1" dirty="0" smtClean="0">
                <a:solidFill>
                  <a:srgbClr val="000000"/>
                </a:solidFill>
              </a:rPr>
              <a:t>;"</a:t>
            </a:r>
            <a:r>
              <a:rPr lang="en-US" sz="2400" i="1" dirty="0" smtClean="0">
                <a:solidFill>
                  <a:srgbClr val="008080"/>
                </a:solidFill>
              </a:rPr>
              <a:t>&gt;</a:t>
            </a:r>
            <a:r>
              <a:rPr lang="en-US" sz="2400" i="1" dirty="0" smtClean="0">
                <a:solidFill>
                  <a:srgbClr val="000000"/>
                </a:solidFill>
              </a:rPr>
              <a:t>Un super </a:t>
            </a:r>
            <a:r>
              <a:rPr lang="en-US" sz="2400" i="1" dirty="0" err="1" smtClean="0">
                <a:solidFill>
                  <a:srgbClr val="000000"/>
                </a:solidFill>
              </a:rPr>
              <a:t>texte</a:t>
            </a:r>
            <a:r>
              <a:rPr lang="en-US" sz="2400" i="1" dirty="0" smtClean="0">
                <a:solidFill>
                  <a:srgbClr val="000000"/>
                </a:solidFill>
              </a:rPr>
              <a:t> rouge et </a:t>
            </a:r>
            <a:r>
              <a:rPr lang="en-US" sz="2400" i="1" dirty="0" smtClean="0">
                <a:solidFill>
                  <a:srgbClr val="008080"/>
                </a:solidFill>
              </a:rPr>
              <a:t>&lt;</a:t>
            </a:r>
            <a:r>
              <a:rPr lang="en-US" sz="2400" i="1" dirty="0" smtClean="0">
                <a:solidFill>
                  <a:srgbClr val="3F7F7F"/>
                </a:solidFill>
              </a:rPr>
              <a:t>span </a:t>
            </a:r>
            <a:r>
              <a:rPr lang="en-US" sz="2400" i="1" dirty="0" smtClean="0">
                <a:solidFill>
                  <a:srgbClr val="7F007F"/>
                </a:solidFill>
              </a:rPr>
              <a:t>style</a:t>
            </a:r>
            <a:r>
              <a:rPr lang="en-US" sz="2400" i="1" dirty="0" smtClean="0">
                <a:solidFill>
                  <a:srgbClr val="000000"/>
                </a:solidFill>
              </a:rPr>
              <a:t>="</a:t>
            </a:r>
            <a:r>
              <a:rPr lang="en-US" sz="2400" i="1" dirty="0" smtClean="0">
                <a:solidFill>
                  <a:srgbClr val="7F007F"/>
                </a:solidFill>
              </a:rPr>
              <a:t>color</a:t>
            </a:r>
            <a:r>
              <a:rPr lang="en-US" sz="2400" i="1" dirty="0" smtClean="0">
                <a:solidFill>
                  <a:srgbClr val="000000"/>
                </a:solidFill>
              </a:rPr>
              <a:t>: </a:t>
            </a:r>
            <a:r>
              <a:rPr lang="en-US" sz="2400" i="1" dirty="0" smtClean="0">
                <a:solidFill>
                  <a:srgbClr val="2A00E1"/>
                </a:solidFill>
              </a:rPr>
              <a:t>blue</a:t>
            </a:r>
            <a:r>
              <a:rPr lang="en-US" sz="2400" i="1" dirty="0" smtClean="0">
                <a:solidFill>
                  <a:srgbClr val="000000"/>
                </a:solidFill>
              </a:rPr>
              <a:t>;"</a:t>
            </a:r>
            <a:r>
              <a:rPr lang="en-US" sz="2400" i="1" dirty="0" smtClean="0">
                <a:solidFill>
                  <a:srgbClr val="008080"/>
                </a:solidFill>
              </a:rPr>
              <a:t>&gt;</a:t>
            </a:r>
            <a:r>
              <a:rPr lang="en-US" sz="2400" i="1" dirty="0" smtClean="0">
                <a:solidFill>
                  <a:srgbClr val="000000"/>
                </a:solidFill>
              </a:rPr>
              <a:t>blue</a:t>
            </a:r>
            <a:r>
              <a:rPr lang="en-US" sz="2400" i="1" dirty="0" smtClean="0">
                <a:solidFill>
                  <a:srgbClr val="008080"/>
                </a:solidFill>
              </a:rPr>
              <a:t>&lt;/</a:t>
            </a:r>
            <a:r>
              <a:rPr lang="en-US" sz="2400" i="1" dirty="0" smtClean="0">
                <a:solidFill>
                  <a:srgbClr val="3F7F7F"/>
                </a:solidFill>
              </a:rPr>
              <a:t>span</a:t>
            </a:r>
            <a:r>
              <a:rPr lang="en-US" sz="2400" i="1" dirty="0" smtClean="0">
                <a:solidFill>
                  <a:srgbClr val="008080"/>
                </a:solidFill>
              </a:rPr>
              <a:t>&gt;&lt;/</a:t>
            </a:r>
            <a:r>
              <a:rPr lang="en-US" sz="2400" i="1" dirty="0" smtClean="0">
                <a:solidFill>
                  <a:srgbClr val="3F7F7F"/>
                </a:solidFill>
              </a:rPr>
              <a:t>p</a:t>
            </a:r>
            <a:r>
              <a:rPr lang="en-US" sz="2400" i="1" dirty="0" smtClean="0">
                <a:solidFill>
                  <a:srgbClr val="008080"/>
                </a:solidFill>
              </a:rPr>
              <a:t>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81329"/>
            <a:ext cx="8172400" cy="144016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8532440" y="6381329"/>
            <a:ext cx="611560" cy="144016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E1393D"/>
            </a:solidFill>
          </a:ln>
        </p:spPr>
        <p:txBody>
          <a:bodyPr>
            <a:normAutofit/>
          </a:bodyPr>
          <a:lstStyle/>
          <a:p>
            <a:r>
              <a:rPr lang="fr-CA" sz="3200" dirty="0" smtClean="0">
                <a:latin typeface="Consolas" pitchFamily="49" charset="0"/>
                <a:cs typeface="Consolas" pitchFamily="49" charset="0"/>
              </a:rPr>
              <a:t>Ajouter du CSS</a:t>
            </a:r>
            <a:endParaRPr lang="fr-CA" sz="32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Dans un fichier CSS externe (recommandé)</a:t>
            </a:r>
          </a:p>
          <a:p>
            <a:pPr>
              <a:buNone/>
            </a:pPr>
            <a:r>
              <a:rPr lang="fr-FR" dirty="0" smtClean="0">
                <a:latin typeface="Consolas" pitchFamily="49" charset="0"/>
                <a:cs typeface="Consolas" pitchFamily="49" charset="0"/>
              </a:rPr>
              <a:t>	On utilisera la balise &lt;</a:t>
            </a:r>
            <a:r>
              <a:rPr lang="fr-FR" dirty="0" err="1" smtClean="0">
                <a:latin typeface="Consolas" pitchFamily="49" charset="0"/>
                <a:cs typeface="Consolas" pitchFamily="49" charset="0"/>
              </a:rPr>
              <a:t>link</a:t>
            </a:r>
            <a:r>
              <a:rPr lang="fr-FR" dirty="0" smtClean="0">
                <a:latin typeface="Consolas" pitchFamily="49" charset="0"/>
                <a:cs typeface="Consolas" pitchFamily="49" charset="0"/>
              </a:rPr>
              <a:t>&gt; pour lier le fichier CSS à la page HTML </a:t>
            </a:r>
            <a:r>
              <a:rPr lang="fr-FR" dirty="0" smtClean="0"/>
              <a:t>entre les balises &lt;</a:t>
            </a:r>
            <a:r>
              <a:rPr lang="fr-FR" dirty="0" err="1" smtClean="0"/>
              <a:t>head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smtClean="0">
                <a:solidFill>
                  <a:srgbClr val="008080"/>
                </a:solidFill>
              </a:rPr>
              <a:t>&lt;</a:t>
            </a:r>
            <a:r>
              <a:rPr lang="fr-FR" dirty="0" err="1" smtClean="0">
                <a:solidFill>
                  <a:srgbClr val="3F7F7F"/>
                </a:solidFill>
              </a:rPr>
              <a:t>link</a:t>
            </a:r>
            <a:r>
              <a:rPr lang="fr-FR" dirty="0" smtClean="0">
                <a:solidFill>
                  <a:srgbClr val="3F7F7F"/>
                </a:solidFill>
              </a:rPr>
              <a:t> </a:t>
            </a:r>
            <a:r>
              <a:rPr lang="fr-FR" dirty="0" err="1" smtClean="0">
                <a:solidFill>
                  <a:srgbClr val="7F007F"/>
                </a:solidFill>
              </a:rPr>
              <a:t>rel</a:t>
            </a:r>
            <a:r>
              <a:rPr lang="fr-FR" dirty="0" smtClean="0">
                <a:solidFill>
                  <a:srgbClr val="000000"/>
                </a:solidFill>
              </a:rPr>
              <a:t>=</a:t>
            </a:r>
            <a:r>
              <a:rPr lang="fr-FR" i="1" dirty="0" smtClean="0">
                <a:solidFill>
                  <a:srgbClr val="2A00FF"/>
                </a:solidFill>
              </a:rPr>
              <a:t>"</a:t>
            </a:r>
            <a:r>
              <a:rPr lang="fr-FR" i="1" dirty="0" err="1" smtClean="0">
                <a:solidFill>
                  <a:srgbClr val="2A00FF"/>
                </a:solidFill>
              </a:rPr>
              <a:t>stylesheet</a:t>
            </a:r>
            <a:r>
              <a:rPr lang="fr-FR" i="1" dirty="0" smtClean="0">
                <a:solidFill>
                  <a:srgbClr val="2A00FF"/>
                </a:solidFill>
              </a:rPr>
              <a:t>" </a:t>
            </a:r>
            <a:r>
              <a:rPr lang="fr-FR" i="1" dirty="0" smtClean="0">
                <a:solidFill>
                  <a:srgbClr val="7F007F"/>
                </a:solidFill>
              </a:rPr>
              <a:t>type</a:t>
            </a:r>
            <a:r>
              <a:rPr lang="fr-FR" i="1" dirty="0" smtClean="0">
                <a:solidFill>
                  <a:srgbClr val="000000"/>
                </a:solidFill>
              </a:rPr>
              <a:t>=</a:t>
            </a:r>
            <a:r>
              <a:rPr lang="fr-FR" i="1" dirty="0" smtClean="0">
                <a:solidFill>
                  <a:srgbClr val="2A00FF"/>
                </a:solidFill>
              </a:rPr>
              <a:t>"</a:t>
            </a:r>
            <a:r>
              <a:rPr lang="fr-FR" i="1" dirty="0" err="1" smtClean="0">
                <a:solidFill>
                  <a:srgbClr val="2A00FF"/>
                </a:solidFill>
              </a:rPr>
              <a:t>text</a:t>
            </a:r>
            <a:r>
              <a:rPr lang="fr-FR" i="1" dirty="0" smtClean="0">
                <a:solidFill>
                  <a:srgbClr val="2A00FF"/>
                </a:solidFill>
              </a:rPr>
              <a:t>/</a:t>
            </a:r>
            <a:r>
              <a:rPr lang="fr-FR" i="1" dirty="0" err="1" smtClean="0">
                <a:solidFill>
                  <a:srgbClr val="2A00FF"/>
                </a:solidFill>
              </a:rPr>
              <a:t>css</a:t>
            </a:r>
            <a:r>
              <a:rPr lang="fr-FR" i="1" dirty="0" smtClean="0">
                <a:solidFill>
                  <a:srgbClr val="2A00FF"/>
                </a:solidFill>
              </a:rPr>
              <a:t>" </a:t>
            </a:r>
            <a:r>
              <a:rPr lang="fr-FR" i="1" dirty="0" smtClean="0">
                <a:solidFill>
                  <a:srgbClr val="7F007F"/>
                </a:solidFill>
              </a:rPr>
              <a:t>media</a:t>
            </a:r>
            <a:r>
              <a:rPr lang="fr-FR" i="1" dirty="0" smtClean="0">
                <a:solidFill>
                  <a:srgbClr val="000000"/>
                </a:solidFill>
              </a:rPr>
              <a:t>=</a:t>
            </a:r>
            <a:r>
              <a:rPr lang="fr-FR" i="1" dirty="0" smtClean="0">
                <a:solidFill>
                  <a:srgbClr val="2A00FF"/>
                </a:solidFill>
              </a:rPr>
              <a:t>"</a:t>
            </a:r>
            <a:r>
              <a:rPr lang="fr-FR" i="1" dirty="0" err="1" smtClean="0">
                <a:solidFill>
                  <a:srgbClr val="2A00FF"/>
                </a:solidFill>
              </a:rPr>
              <a:t>screen</a:t>
            </a:r>
            <a:r>
              <a:rPr lang="fr-FR" i="1" dirty="0" smtClean="0">
                <a:solidFill>
                  <a:srgbClr val="2A00FF"/>
                </a:solidFill>
              </a:rPr>
              <a:t>" </a:t>
            </a:r>
            <a:r>
              <a:rPr lang="fr-FR" i="1" dirty="0" err="1" smtClean="0">
                <a:solidFill>
                  <a:srgbClr val="7F007F"/>
                </a:solidFill>
              </a:rPr>
              <a:t>href</a:t>
            </a:r>
            <a:r>
              <a:rPr lang="fr-FR" i="1" dirty="0" smtClean="0">
                <a:solidFill>
                  <a:srgbClr val="000000"/>
                </a:solidFill>
              </a:rPr>
              <a:t>=</a:t>
            </a:r>
            <a:r>
              <a:rPr lang="fr-FR" i="1" dirty="0" smtClean="0">
                <a:solidFill>
                  <a:srgbClr val="2A00FF"/>
                </a:solidFill>
              </a:rPr>
              <a:t>"style.css" </a:t>
            </a:r>
            <a:r>
              <a:rPr lang="fr-FR" i="1" dirty="0" smtClean="0">
                <a:solidFill>
                  <a:srgbClr val="008080"/>
                </a:solidFill>
              </a:rPr>
              <a:t>/&gt;</a:t>
            </a:r>
          </a:p>
          <a:p>
            <a:pPr>
              <a:buNone/>
            </a:pPr>
            <a:r>
              <a:rPr lang="fr-FR" dirty="0" smtClean="0">
                <a:solidFill>
                  <a:srgbClr val="008080"/>
                </a:solidFill>
              </a:rPr>
              <a:t>&lt;</a:t>
            </a:r>
            <a:r>
              <a:rPr lang="fr-FR" dirty="0" err="1" smtClean="0">
                <a:solidFill>
                  <a:srgbClr val="3F7F7F"/>
                </a:solidFill>
              </a:rPr>
              <a:t>link</a:t>
            </a:r>
            <a:r>
              <a:rPr lang="fr-FR" dirty="0" smtClean="0">
                <a:solidFill>
                  <a:srgbClr val="3F7F7F"/>
                </a:solidFill>
              </a:rPr>
              <a:t> </a:t>
            </a:r>
            <a:r>
              <a:rPr lang="fr-FR" dirty="0" err="1" smtClean="0">
                <a:solidFill>
                  <a:srgbClr val="7F007F"/>
                </a:solidFill>
              </a:rPr>
              <a:t>rel</a:t>
            </a:r>
            <a:r>
              <a:rPr lang="fr-FR" dirty="0" smtClean="0">
                <a:solidFill>
                  <a:srgbClr val="000000"/>
                </a:solidFill>
              </a:rPr>
              <a:t>=</a:t>
            </a:r>
            <a:r>
              <a:rPr lang="fr-FR" i="1" dirty="0" smtClean="0">
                <a:solidFill>
                  <a:srgbClr val="2A00FF"/>
                </a:solidFill>
              </a:rPr>
              <a:t>"</a:t>
            </a:r>
            <a:r>
              <a:rPr lang="fr-FR" i="1" dirty="0" err="1" smtClean="0">
                <a:solidFill>
                  <a:srgbClr val="2A00FF"/>
                </a:solidFill>
              </a:rPr>
              <a:t>stylesheet</a:t>
            </a:r>
            <a:r>
              <a:rPr lang="fr-FR" i="1" dirty="0" smtClean="0">
                <a:solidFill>
                  <a:srgbClr val="2A00FF"/>
                </a:solidFill>
              </a:rPr>
              <a:t>" </a:t>
            </a:r>
            <a:r>
              <a:rPr lang="fr-FR" i="1" dirty="0" smtClean="0">
                <a:solidFill>
                  <a:srgbClr val="7F007F"/>
                </a:solidFill>
              </a:rPr>
              <a:t>type</a:t>
            </a:r>
            <a:r>
              <a:rPr lang="fr-FR" i="1" dirty="0" smtClean="0">
                <a:solidFill>
                  <a:srgbClr val="000000"/>
                </a:solidFill>
              </a:rPr>
              <a:t>=</a:t>
            </a:r>
            <a:r>
              <a:rPr lang="fr-FR" i="1" dirty="0" smtClean="0">
                <a:solidFill>
                  <a:srgbClr val="2A00FF"/>
                </a:solidFill>
              </a:rPr>
              <a:t>"</a:t>
            </a:r>
            <a:r>
              <a:rPr lang="fr-FR" i="1" dirty="0" err="1" smtClean="0">
                <a:solidFill>
                  <a:srgbClr val="2A00FF"/>
                </a:solidFill>
              </a:rPr>
              <a:t>text</a:t>
            </a:r>
            <a:r>
              <a:rPr lang="fr-FR" i="1" dirty="0" smtClean="0">
                <a:solidFill>
                  <a:srgbClr val="2A00FF"/>
                </a:solidFill>
              </a:rPr>
              <a:t>/</a:t>
            </a:r>
            <a:r>
              <a:rPr lang="fr-FR" i="1" dirty="0" err="1" smtClean="0">
                <a:solidFill>
                  <a:srgbClr val="2A00FF"/>
                </a:solidFill>
              </a:rPr>
              <a:t>css</a:t>
            </a:r>
            <a:r>
              <a:rPr lang="fr-FR" i="1" dirty="0" smtClean="0">
                <a:solidFill>
                  <a:srgbClr val="2A00FF"/>
                </a:solidFill>
              </a:rPr>
              <a:t>" </a:t>
            </a:r>
            <a:r>
              <a:rPr lang="fr-FR" i="1" dirty="0" smtClean="0">
                <a:solidFill>
                  <a:srgbClr val="7F007F"/>
                </a:solidFill>
              </a:rPr>
              <a:t>media</a:t>
            </a:r>
            <a:r>
              <a:rPr lang="fr-FR" i="1" dirty="0" smtClean="0">
                <a:solidFill>
                  <a:srgbClr val="000000"/>
                </a:solidFill>
              </a:rPr>
              <a:t>=</a:t>
            </a:r>
            <a:r>
              <a:rPr lang="fr-FR" i="1" dirty="0" smtClean="0">
                <a:solidFill>
                  <a:srgbClr val="2A00FF"/>
                </a:solidFill>
              </a:rPr>
              <a:t>"</a:t>
            </a:r>
            <a:r>
              <a:rPr lang="fr-FR" i="1" dirty="0" err="1" smtClean="0">
                <a:solidFill>
                  <a:srgbClr val="2A00FF"/>
                </a:solidFill>
              </a:rPr>
              <a:t>print</a:t>
            </a:r>
            <a:r>
              <a:rPr lang="fr-FR" i="1" dirty="0" smtClean="0">
                <a:solidFill>
                  <a:srgbClr val="2A00FF"/>
                </a:solidFill>
              </a:rPr>
              <a:t>" </a:t>
            </a:r>
            <a:r>
              <a:rPr lang="fr-FR" i="1" dirty="0" err="1" smtClean="0">
                <a:solidFill>
                  <a:srgbClr val="7F007F"/>
                </a:solidFill>
              </a:rPr>
              <a:t>href</a:t>
            </a:r>
            <a:r>
              <a:rPr lang="fr-FR" i="1" dirty="0" smtClean="0">
                <a:solidFill>
                  <a:srgbClr val="000000"/>
                </a:solidFill>
              </a:rPr>
              <a:t>=</a:t>
            </a:r>
            <a:r>
              <a:rPr lang="fr-FR" i="1" dirty="0" smtClean="0">
                <a:solidFill>
                  <a:srgbClr val="2A00FF"/>
                </a:solidFill>
              </a:rPr>
              <a:t>"print.css" </a:t>
            </a:r>
            <a:r>
              <a:rPr lang="fr-FR" i="1" dirty="0" smtClean="0">
                <a:solidFill>
                  <a:srgbClr val="008080"/>
                </a:solidFill>
              </a:rPr>
              <a:t>/&gt; </a:t>
            </a:r>
          </a:p>
          <a:p>
            <a:r>
              <a:rPr lang="fr-FR" dirty="0" smtClean="0"/>
              <a:t>Lier un fichier dans un fichier CSS</a:t>
            </a:r>
          </a:p>
          <a:p>
            <a:pPr>
              <a:buNone/>
            </a:pPr>
            <a:r>
              <a:rPr lang="fr-FR" dirty="0" smtClean="0">
                <a:solidFill>
                  <a:srgbClr val="3F7F7F"/>
                </a:solidFill>
              </a:rPr>
              <a:t>@import </a:t>
            </a:r>
            <a:r>
              <a:rPr lang="fr-FR" i="1" dirty="0" smtClean="0">
                <a:solidFill>
                  <a:srgbClr val="2A00E1"/>
                </a:solidFill>
              </a:rPr>
              <a:t>url("import.css") </a:t>
            </a:r>
            <a:r>
              <a:rPr lang="fr-FR" i="1" dirty="0" err="1" smtClean="0">
                <a:solidFill>
                  <a:srgbClr val="2A00E1"/>
                </a:solidFill>
              </a:rPr>
              <a:t>screen</a:t>
            </a:r>
            <a:r>
              <a:rPr lang="fr-FR" i="1" dirty="0" smtClean="0">
                <a:solidFill>
                  <a:srgbClr val="000000"/>
                </a:solidFill>
              </a:rPr>
              <a:t>; 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Doit être en première ligne du fichier</a:t>
            </a:r>
          </a:p>
          <a:p>
            <a:pPr>
              <a:buNone/>
            </a:pPr>
            <a:endParaRPr lang="fr-FR" i="1" dirty="0" smtClean="0">
              <a:solidFill>
                <a:srgbClr val="000000"/>
              </a:solidFill>
            </a:endParaRPr>
          </a:p>
        </p:txBody>
      </p:sp>
      <p:grpSp>
        <p:nvGrpSpPr>
          <p:cNvPr id="7" name="Groupe 6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4" name="Rectangle 3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/>
          <a:lstStyle/>
          <a:p>
            <a:r>
              <a:rPr lang="fr-CA" dirty="0" smtClean="0"/>
              <a:t>Syntaxe du CSS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Le Sélecteur</a:t>
            </a:r>
          </a:p>
          <a:p>
            <a:r>
              <a:rPr lang="fr-FR" dirty="0" smtClean="0"/>
              <a:t>Le bloc de déclaration</a:t>
            </a:r>
          </a:p>
          <a:p>
            <a:r>
              <a:rPr lang="fr-FR" dirty="0" smtClean="0"/>
              <a:t>Les déclarations ou propriétés CSS</a:t>
            </a:r>
            <a:endParaRPr lang="fr-FR" dirty="0"/>
          </a:p>
        </p:txBody>
      </p:sp>
      <p:pic>
        <p:nvPicPr>
          <p:cNvPr id="4" name="Image 3" descr="Terminologie CSS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7704" y="3501008"/>
            <a:ext cx="5486400" cy="2800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5" name="Groupe 4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/>
          <a:lstStyle/>
          <a:p>
            <a:r>
              <a:rPr lang="fr-CA" dirty="0" smtClean="0"/>
              <a:t>Sélecteurs CSS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dirty="0" smtClean="0"/>
              <a:t>Cibler toutes les balises du même type</a:t>
            </a:r>
          </a:p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p </a:t>
            </a:r>
            <a:r>
              <a:rPr lang="fr-FR" b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color</a:t>
            </a:r>
            <a:r>
              <a:rPr lang="fr-FR" dirty="0" smtClean="0">
                <a:solidFill>
                  <a:srgbClr val="000000"/>
                </a:solidFill>
              </a:rPr>
              <a:t>: </a:t>
            </a:r>
            <a:r>
              <a:rPr lang="fr-FR" i="1" dirty="0" err="1" smtClean="0">
                <a:solidFill>
                  <a:srgbClr val="2A00E1"/>
                </a:solidFill>
              </a:rPr>
              <a:t>red</a:t>
            </a:r>
            <a:r>
              <a:rPr lang="fr-FR" i="1" dirty="0" smtClean="0">
                <a:solidFill>
                  <a:srgbClr val="000000"/>
                </a:solidFill>
              </a:rPr>
              <a:t>;</a:t>
            </a:r>
            <a:r>
              <a:rPr lang="fr-FR" i="1" dirty="0" smtClean="0">
                <a:solidFill>
                  <a:srgbClr val="3F5FBF"/>
                </a:solidFill>
              </a:rPr>
              <a:t>/*toutes les &lt;p&gt; auront le texte rouge*/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r>
              <a:rPr lang="fr-FR" dirty="0" smtClean="0"/>
              <a:t>Cibler toutes les balises contenues dans un éléments</a:t>
            </a:r>
          </a:p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p a</a:t>
            </a:r>
            <a:r>
              <a:rPr lang="fr-FR" b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color</a:t>
            </a:r>
            <a:r>
              <a:rPr lang="fr-FR" dirty="0" err="1" smtClean="0">
                <a:solidFill>
                  <a:srgbClr val="000000"/>
                </a:solidFill>
              </a:rPr>
              <a:t>:</a:t>
            </a:r>
            <a:r>
              <a:rPr lang="fr-FR" i="1" dirty="0" err="1" smtClean="0">
                <a:solidFill>
                  <a:srgbClr val="2A00E1"/>
                </a:solidFill>
              </a:rPr>
              <a:t>green</a:t>
            </a:r>
            <a:r>
              <a:rPr lang="fr-FR" i="1" dirty="0" smtClean="0">
                <a:solidFill>
                  <a:srgbClr val="000000"/>
                </a:solidFill>
              </a:rPr>
              <a:t>; </a:t>
            </a:r>
            <a:r>
              <a:rPr lang="fr-FR" i="1" dirty="0" smtClean="0">
                <a:solidFill>
                  <a:srgbClr val="3F5FBF"/>
                </a:solidFill>
              </a:rPr>
              <a:t>/*toutes les &lt;a&gt; contenu dans un &lt;p&gt; */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r>
              <a:rPr lang="fr-FR" dirty="0" smtClean="0">
                <a:solidFill>
                  <a:srgbClr val="000000"/>
                </a:solidFill>
              </a:rPr>
              <a:t>Cibler tout dans la page HTML</a:t>
            </a:r>
          </a:p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*</a:t>
            </a:r>
            <a:r>
              <a:rPr lang="fr-FR" b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color</a:t>
            </a:r>
            <a:r>
              <a:rPr lang="fr-FR" dirty="0" err="1" smtClean="0">
                <a:solidFill>
                  <a:srgbClr val="000000"/>
                </a:solidFill>
              </a:rPr>
              <a:t>:</a:t>
            </a:r>
            <a:r>
              <a:rPr lang="fr-FR" i="1" dirty="0" err="1" smtClean="0">
                <a:solidFill>
                  <a:srgbClr val="2A00E1"/>
                </a:solidFill>
              </a:rPr>
              <a:t>green</a:t>
            </a:r>
            <a:r>
              <a:rPr lang="fr-FR" i="1" dirty="0" smtClean="0">
                <a:solidFill>
                  <a:srgbClr val="000000"/>
                </a:solidFill>
              </a:rPr>
              <a:t>; </a:t>
            </a:r>
            <a:r>
              <a:rPr lang="fr-FR" i="1" dirty="0" smtClean="0">
                <a:solidFill>
                  <a:srgbClr val="3F5FBF"/>
                </a:solidFill>
              </a:rPr>
              <a:t>/*toutes les balises auront un texte vert*/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</p:txBody>
      </p:sp>
      <p:grpSp>
        <p:nvGrpSpPr>
          <p:cNvPr id="5" name="Groupe 4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/>
          <a:lstStyle/>
          <a:p>
            <a:r>
              <a:rPr lang="fr-CA" dirty="0" smtClean="0"/>
              <a:t>Sélecteurs de class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.</a:t>
            </a:r>
            <a:r>
              <a:rPr lang="fr-FR" b="1" dirty="0" err="1" smtClean="0">
                <a:solidFill>
                  <a:srgbClr val="3F7F7F"/>
                </a:solidFill>
              </a:rPr>
              <a:t>uneCouleurRouge</a:t>
            </a:r>
            <a:r>
              <a:rPr lang="fr-FR" b="1" dirty="0" smtClean="0">
                <a:solidFill>
                  <a:srgbClr val="3F7F7F"/>
                </a:solidFill>
              </a:rPr>
              <a:t> </a:t>
            </a:r>
            <a:r>
              <a:rPr lang="fr-FR" b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color</a:t>
            </a:r>
            <a:r>
              <a:rPr lang="fr-FR" dirty="0" smtClean="0">
                <a:solidFill>
                  <a:srgbClr val="000000"/>
                </a:solidFill>
              </a:rPr>
              <a:t>: </a:t>
            </a:r>
            <a:r>
              <a:rPr lang="fr-FR" i="1" dirty="0" err="1" smtClean="0">
                <a:solidFill>
                  <a:srgbClr val="2A00E1"/>
                </a:solidFill>
              </a:rPr>
              <a:t>red</a:t>
            </a:r>
            <a:r>
              <a:rPr lang="fr-FR" i="1" dirty="0" smtClean="0">
                <a:solidFill>
                  <a:srgbClr val="2A00E1"/>
                </a:solidFill>
              </a:rPr>
              <a:t>;</a:t>
            </a:r>
            <a:endParaRPr lang="fr-FR" i="1" dirty="0" smtClean="0">
              <a:solidFill>
                <a:srgbClr val="3F5FBF"/>
              </a:solidFill>
            </a:endParaRP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endParaRPr lang="fr-FR" dirty="0" smtClean="0"/>
          </a:p>
          <a:p>
            <a:pPr>
              <a:buNone/>
            </a:pPr>
            <a:r>
              <a:rPr lang="fr-FR" b="1" dirty="0" err="1" smtClean="0">
                <a:solidFill>
                  <a:srgbClr val="3F7F7F"/>
                </a:solidFill>
              </a:rPr>
              <a:t>p</a:t>
            </a:r>
            <a:r>
              <a:rPr lang="fr-FR" b="1" i="1" dirty="0" err="1" smtClean="0">
                <a:solidFill>
                  <a:srgbClr val="3F7F7F"/>
                </a:solidFill>
              </a:rPr>
              <a:t>.uneCouleurRouge</a:t>
            </a:r>
            <a:r>
              <a:rPr lang="fr-FR" b="1" i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CA" dirty="0" smtClean="0">
                <a:solidFill>
                  <a:srgbClr val="7F007F"/>
                </a:solidFill>
              </a:rPr>
              <a:t>	</a:t>
            </a:r>
            <a:r>
              <a:rPr lang="fr-CA" dirty="0" err="1" smtClean="0">
                <a:solidFill>
                  <a:srgbClr val="7F007F"/>
                </a:solidFill>
              </a:rPr>
              <a:t>color</a:t>
            </a:r>
            <a:r>
              <a:rPr lang="fr-CA" dirty="0" smtClean="0">
                <a:solidFill>
                  <a:srgbClr val="000000"/>
                </a:solidFill>
              </a:rPr>
              <a:t>: </a:t>
            </a:r>
            <a:r>
              <a:rPr lang="fr-CA" i="1" dirty="0" err="1" smtClean="0">
                <a:solidFill>
                  <a:srgbClr val="2A00E1"/>
                </a:solidFill>
              </a:rPr>
              <a:t>maroon</a:t>
            </a:r>
            <a:r>
              <a:rPr lang="fr-CA" i="1" dirty="0" smtClean="0">
                <a:solidFill>
                  <a:srgbClr val="000000"/>
                </a:solidFill>
              </a:rPr>
              <a:t>; </a:t>
            </a:r>
            <a:r>
              <a:rPr lang="fr-CA" i="1" dirty="0" smtClean="0">
                <a:solidFill>
                  <a:srgbClr val="3F5FBF"/>
                </a:solidFill>
              </a:rPr>
              <a:t>/*toutes les &lt;p&gt; qui ont cette classe*/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endParaRPr lang="fr-FR" dirty="0" smtClean="0"/>
          </a:p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p </a:t>
            </a:r>
            <a:r>
              <a:rPr lang="fr-FR" b="1" i="1" dirty="0" smtClean="0">
                <a:solidFill>
                  <a:srgbClr val="3F7F7F"/>
                </a:solidFill>
              </a:rPr>
              <a:t>.</a:t>
            </a:r>
            <a:r>
              <a:rPr lang="fr-FR" b="1" i="1" dirty="0" err="1" smtClean="0">
                <a:solidFill>
                  <a:srgbClr val="3F7F7F"/>
                </a:solidFill>
              </a:rPr>
              <a:t>uneCouleurRouge</a:t>
            </a:r>
            <a:r>
              <a:rPr lang="fr-FR" b="1" i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CA" dirty="0" smtClean="0">
                <a:solidFill>
                  <a:srgbClr val="7F007F"/>
                </a:solidFill>
              </a:rPr>
              <a:t>	</a:t>
            </a:r>
            <a:r>
              <a:rPr lang="fr-CA" dirty="0" err="1" smtClean="0">
                <a:solidFill>
                  <a:srgbClr val="7F007F"/>
                </a:solidFill>
              </a:rPr>
              <a:t>color</a:t>
            </a:r>
            <a:r>
              <a:rPr lang="fr-CA" dirty="0" smtClean="0">
                <a:solidFill>
                  <a:srgbClr val="000000"/>
                </a:solidFill>
              </a:rPr>
              <a:t>: </a:t>
            </a:r>
            <a:r>
              <a:rPr lang="fr-CA" i="1" dirty="0" err="1" smtClean="0">
                <a:solidFill>
                  <a:srgbClr val="2A00E1"/>
                </a:solidFill>
              </a:rPr>
              <a:t>maroon</a:t>
            </a:r>
            <a:r>
              <a:rPr lang="fr-CA" i="1" dirty="0" smtClean="0">
                <a:solidFill>
                  <a:srgbClr val="000000"/>
                </a:solidFill>
              </a:rPr>
              <a:t>; </a:t>
            </a:r>
            <a:r>
              <a:rPr lang="fr-CA" i="1" dirty="0" smtClean="0">
                <a:solidFill>
                  <a:srgbClr val="3F5FBF"/>
                </a:solidFill>
              </a:rPr>
              <a:t>/*toutes les balises qui ont cette classe et qui ont un </a:t>
            </a:r>
            <a:r>
              <a:rPr lang="fr-CA" i="1" dirty="0" err="1" smtClean="0">
                <a:solidFill>
                  <a:srgbClr val="3F5FBF"/>
                </a:solidFill>
              </a:rPr>
              <a:t>ancetre</a:t>
            </a:r>
            <a:r>
              <a:rPr lang="fr-CA" i="1" dirty="0" smtClean="0">
                <a:solidFill>
                  <a:srgbClr val="3F5FBF"/>
                </a:solidFill>
              </a:rPr>
              <a:t> &lt;p&gt;*/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</p:txBody>
      </p:sp>
      <p:grpSp>
        <p:nvGrpSpPr>
          <p:cNvPr id="5" name="Groupe 4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/>
          <a:lstStyle/>
          <a:p>
            <a:r>
              <a:rPr lang="fr-CA" dirty="0" smtClean="0"/>
              <a:t>Sélecteurs d'identifiant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5259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CA" dirty="0" smtClean="0"/>
              <a:t>Unique pour </a:t>
            </a:r>
            <a:r>
              <a:rPr lang="en-CA" dirty="0" err="1" smtClean="0"/>
              <a:t>toute</a:t>
            </a:r>
            <a:r>
              <a:rPr lang="en-CA" dirty="0" smtClean="0"/>
              <a:t> la page</a:t>
            </a:r>
            <a:endParaRPr lang="fr-FR" dirty="0" smtClean="0"/>
          </a:p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#</a:t>
            </a:r>
            <a:r>
              <a:rPr lang="fr-FR" b="1" dirty="0" err="1" smtClean="0">
                <a:solidFill>
                  <a:srgbClr val="3F7F7F"/>
                </a:solidFill>
              </a:rPr>
              <a:t>mainWrap</a:t>
            </a:r>
            <a:r>
              <a:rPr lang="fr-FR" b="1" dirty="0" smtClean="0">
                <a:solidFill>
                  <a:srgbClr val="3F7F7F"/>
                </a:solidFill>
              </a:rPr>
              <a:t> </a:t>
            </a:r>
            <a:r>
              <a:rPr lang="fr-FR" b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margin</a:t>
            </a:r>
            <a:r>
              <a:rPr lang="fr-FR" dirty="0" smtClean="0">
                <a:solidFill>
                  <a:srgbClr val="000000"/>
                </a:solidFill>
              </a:rPr>
              <a:t>: </a:t>
            </a:r>
            <a:r>
              <a:rPr lang="fr-FR" i="1" dirty="0" smtClean="0">
                <a:solidFill>
                  <a:srgbClr val="2A00E1"/>
                </a:solidFill>
              </a:rPr>
              <a:t>50px; /*La balise ayant l'attribut id="</a:t>
            </a:r>
            <a:r>
              <a:rPr lang="fr-FR" i="1" dirty="0" err="1" smtClean="0">
                <a:solidFill>
                  <a:srgbClr val="2A00E1"/>
                </a:solidFill>
              </a:rPr>
              <a:t>mainWrap</a:t>
            </a:r>
            <a:r>
              <a:rPr lang="fr-FR" i="1" dirty="0" smtClean="0">
                <a:solidFill>
                  <a:srgbClr val="2A00E1"/>
                </a:solidFill>
              </a:rPr>
              <a:t>" */</a:t>
            </a:r>
            <a:endParaRPr lang="fr-FR" i="1" dirty="0" smtClean="0">
              <a:solidFill>
                <a:srgbClr val="3F5FBF"/>
              </a:solidFill>
            </a:endParaRP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endParaRPr lang="fr-FR" dirty="0" smtClean="0"/>
          </a:p>
          <a:p>
            <a:pPr>
              <a:buNone/>
            </a:pPr>
            <a:r>
              <a:rPr lang="fr-FR" b="1" i="1" dirty="0" err="1" smtClean="0">
                <a:solidFill>
                  <a:srgbClr val="3F7F7F"/>
                </a:solidFill>
              </a:rPr>
              <a:t>div</a:t>
            </a:r>
            <a:r>
              <a:rPr lang="fr-FR" b="1" i="1" dirty="0" smtClean="0">
                <a:solidFill>
                  <a:srgbClr val="3F7F7F"/>
                </a:solidFill>
              </a:rPr>
              <a:t>#zone1 </a:t>
            </a:r>
            <a:r>
              <a:rPr lang="fr-FR" b="1" i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CA" dirty="0" smtClean="0">
                <a:solidFill>
                  <a:srgbClr val="7F007F"/>
                </a:solidFill>
              </a:rPr>
              <a:t>	</a:t>
            </a:r>
            <a:r>
              <a:rPr lang="fr-CA" dirty="0" err="1" smtClean="0">
                <a:solidFill>
                  <a:srgbClr val="7F007F"/>
                </a:solidFill>
              </a:rPr>
              <a:t>margin</a:t>
            </a:r>
            <a:r>
              <a:rPr lang="fr-CA" dirty="0" smtClean="0">
                <a:solidFill>
                  <a:srgbClr val="7F007F"/>
                </a:solidFill>
              </a:rPr>
              <a:t>-top</a:t>
            </a:r>
            <a:r>
              <a:rPr lang="fr-CA" dirty="0" smtClean="0">
                <a:solidFill>
                  <a:srgbClr val="000000"/>
                </a:solidFill>
              </a:rPr>
              <a:t>: 10px</a:t>
            </a:r>
            <a:r>
              <a:rPr lang="fr-CA" i="1" dirty="0" smtClean="0">
                <a:solidFill>
                  <a:srgbClr val="000000"/>
                </a:solidFill>
              </a:rPr>
              <a:t>; </a:t>
            </a:r>
            <a:r>
              <a:rPr lang="fr-CA" i="1" dirty="0" smtClean="0">
                <a:solidFill>
                  <a:srgbClr val="3F5FBF"/>
                </a:solidFill>
              </a:rPr>
              <a:t>/*la </a:t>
            </a:r>
            <a:r>
              <a:rPr lang="fr-CA" i="1" dirty="0" err="1" smtClean="0">
                <a:solidFill>
                  <a:srgbClr val="3F5FBF"/>
                </a:solidFill>
              </a:rPr>
              <a:t>div</a:t>
            </a:r>
            <a:r>
              <a:rPr lang="fr-CA" i="1" dirty="0" smtClean="0">
                <a:solidFill>
                  <a:srgbClr val="3F5FBF"/>
                </a:solidFill>
              </a:rPr>
              <a:t> ayant l attribut id="zone1"*/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endParaRPr lang="fr-FR" dirty="0" smtClean="0"/>
          </a:p>
        </p:txBody>
      </p:sp>
      <p:grpSp>
        <p:nvGrpSpPr>
          <p:cNvPr id="4" name="Groupe 4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/>
          <a:lstStyle/>
          <a:p>
            <a:r>
              <a:rPr lang="fr-CA" dirty="0" smtClean="0"/>
              <a:t>Sélecteurs d'attribut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5259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[</a:t>
            </a:r>
            <a:r>
              <a:rPr lang="fr-FR" b="1" dirty="0" err="1" smtClean="0">
                <a:solidFill>
                  <a:srgbClr val="3F7F7F"/>
                </a:solidFill>
              </a:rPr>
              <a:t>title</a:t>
            </a:r>
            <a:r>
              <a:rPr lang="fr-FR" b="1" dirty="0" smtClean="0">
                <a:solidFill>
                  <a:srgbClr val="3F7F7F"/>
                </a:solidFill>
              </a:rPr>
              <a:t>] </a:t>
            </a:r>
            <a:r>
              <a:rPr lang="fr-FR" b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color</a:t>
            </a:r>
            <a:r>
              <a:rPr lang="fr-FR" dirty="0" smtClean="0">
                <a:solidFill>
                  <a:srgbClr val="000000"/>
                </a:solidFill>
              </a:rPr>
              <a:t>: </a:t>
            </a:r>
            <a:r>
              <a:rPr lang="fr-FR" i="1" dirty="0" err="1" smtClean="0">
                <a:solidFill>
                  <a:srgbClr val="2A00E1"/>
                </a:solidFill>
              </a:rPr>
              <a:t>red</a:t>
            </a:r>
            <a:r>
              <a:rPr lang="fr-FR" i="1" dirty="0" smtClean="0">
                <a:solidFill>
                  <a:srgbClr val="2A00E1"/>
                </a:solidFill>
              </a:rPr>
              <a:t>; /*toutes les balises ayant l attribut </a:t>
            </a:r>
            <a:r>
              <a:rPr lang="fr-FR" i="1" dirty="0" err="1" smtClean="0">
                <a:solidFill>
                  <a:srgbClr val="2A00E1"/>
                </a:solidFill>
              </a:rPr>
              <a:t>title</a:t>
            </a:r>
            <a:r>
              <a:rPr lang="fr-FR" i="1" dirty="0" smtClean="0">
                <a:solidFill>
                  <a:srgbClr val="2A00E1"/>
                </a:solidFill>
              </a:rPr>
              <a:t> */</a:t>
            </a:r>
            <a:endParaRPr lang="fr-FR" i="1" dirty="0" smtClean="0">
              <a:solidFill>
                <a:srgbClr val="3F5FBF"/>
              </a:solidFill>
            </a:endParaRP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endParaRPr lang="fr-FR" dirty="0" smtClean="0"/>
          </a:p>
          <a:p>
            <a:pPr>
              <a:buNone/>
            </a:pPr>
            <a:r>
              <a:rPr lang="fr-FR" b="1" i="1" dirty="0" smtClean="0">
                <a:solidFill>
                  <a:srgbClr val="3F7F7F"/>
                </a:solidFill>
              </a:rPr>
              <a:t>p[</a:t>
            </a:r>
            <a:r>
              <a:rPr lang="fr-FR" b="1" i="1" dirty="0" err="1" smtClean="0">
                <a:solidFill>
                  <a:srgbClr val="3F7F7F"/>
                </a:solidFill>
              </a:rPr>
              <a:t>title</a:t>
            </a:r>
            <a:r>
              <a:rPr lang="fr-FR" b="1" i="1" dirty="0" smtClean="0">
                <a:solidFill>
                  <a:srgbClr val="3F7F7F"/>
                </a:solidFill>
              </a:rPr>
              <a:t>]</a:t>
            </a:r>
            <a:r>
              <a:rPr lang="fr-FR" b="1" i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CA" dirty="0" smtClean="0">
                <a:solidFill>
                  <a:srgbClr val="7F007F"/>
                </a:solidFill>
              </a:rPr>
              <a:t>	</a:t>
            </a:r>
            <a:r>
              <a:rPr lang="fr-CA" dirty="0" err="1" smtClean="0">
                <a:solidFill>
                  <a:srgbClr val="7F007F"/>
                </a:solidFill>
              </a:rPr>
              <a:t>color</a:t>
            </a:r>
            <a:r>
              <a:rPr lang="fr-CA" dirty="0" smtClean="0">
                <a:solidFill>
                  <a:srgbClr val="000000"/>
                </a:solidFill>
              </a:rPr>
              <a:t>: </a:t>
            </a:r>
            <a:r>
              <a:rPr lang="fr-FR" i="1" dirty="0" err="1" smtClean="0">
                <a:solidFill>
                  <a:srgbClr val="2A00E1"/>
                </a:solidFill>
              </a:rPr>
              <a:t>pink</a:t>
            </a:r>
            <a:r>
              <a:rPr lang="fr-FR" i="1" dirty="0" smtClean="0">
                <a:solidFill>
                  <a:srgbClr val="2A00E1"/>
                </a:solidFill>
              </a:rPr>
              <a:t>;</a:t>
            </a:r>
            <a:r>
              <a:rPr lang="fr-CA" i="1" dirty="0" smtClean="0">
                <a:solidFill>
                  <a:srgbClr val="000000"/>
                </a:solidFill>
              </a:rPr>
              <a:t> </a:t>
            </a:r>
            <a:r>
              <a:rPr lang="fr-CA" i="1" dirty="0" smtClean="0">
                <a:solidFill>
                  <a:srgbClr val="3F5FBF"/>
                </a:solidFill>
              </a:rPr>
              <a:t>/*toutes les &lt;p&gt; ayant l attribut </a:t>
            </a:r>
            <a:r>
              <a:rPr lang="fr-CA" i="1" dirty="0" err="1" smtClean="0">
                <a:solidFill>
                  <a:srgbClr val="3F5FBF"/>
                </a:solidFill>
              </a:rPr>
              <a:t>title</a:t>
            </a:r>
            <a:r>
              <a:rPr lang="fr-CA" i="1" dirty="0" smtClean="0">
                <a:solidFill>
                  <a:srgbClr val="3F5FBF"/>
                </a:solidFill>
              </a:rPr>
              <a:t>*/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pPr>
              <a:buNone/>
            </a:pPr>
            <a:endParaRPr lang="fr-FR" dirty="0" smtClean="0">
              <a:solidFill>
                <a:srgbClr val="000000"/>
              </a:solidFill>
            </a:endParaRPr>
          </a:p>
          <a:p>
            <a:pPr>
              <a:buNone/>
            </a:pPr>
            <a:r>
              <a:rPr lang="fr-FR" b="1" i="1" dirty="0" smtClean="0">
                <a:solidFill>
                  <a:srgbClr val="3F7F7F"/>
                </a:solidFill>
              </a:rPr>
              <a:t>[type="</a:t>
            </a:r>
            <a:r>
              <a:rPr lang="fr-FR" b="1" i="1" dirty="0" err="1" smtClean="0">
                <a:solidFill>
                  <a:srgbClr val="3F7F7F"/>
                </a:solidFill>
              </a:rPr>
              <a:t>text</a:t>
            </a:r>
            <a:r>
              <a:rPr lang="fr-FR" b="1" i="1" dirty="0" smtClean="0">
                <a:solidFill>
                  <a:srgbClr val="3F7F7F"/>
                </a:solidFill>
              </a:rPr>
              <a:t>"]</a:t>
            </a:r>
            <a:r>
              <a:rPr lang="fr-FR" b="1" i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CA" dirty="0" smtClean="0">
                <a:solidFill>
                  <a:srgbClr val="7F007F"/>
                </a:solidFill>
              </a:rPr>
              <a:t>	</a:t>
            </a:r>
            <a:r>
              <a:rPr lang="fr-CA" dirty="0" err="1" smtClean="0">
                <a:solidFill>
                  <a:srgbClr val="7F007F"/>
                </a:solidFill>
              </a:rPr>
              <a:t>color</a:t>
            </a:r>
            <a:r>
              <a:rPr lang="fr-CA" dirty="0" smtClean="0">
                <a:solidFill>
                  <a:srgbClr val="000000"/>
                </a:solidFill>
              </a:rPr>
              <a:t>: </a:t>
            </a:r>
            <a:r>
              <a:rPr lang="fr-FR" i="1" dirty="0" err="1" smtClean="0">
                <a:solidFill>
                  <a:srgbClr val="2A00E1"/>
                </a:solidFill>
              </a:rPr>
              <a:t>pink</a:t>
            </a:r>
            <a:r>
              <a:rPr lang="fr-FR" i="1" dirty="0" smtClean="0">
                <a:solidFill>
                  <a:srgbClr val="2A00E1"/>
                </a:solidFill>
              </a:rPr>
              <a:t>;</a:t>
            </a:r>
            <a:r>
              <a:rPr lang="fr-CA" i="1" dirty="0" smtClean="0">
                <a:solidFill>
                  <a:srgbClr val="000000"/>
                </a:solidFill>
              </a:rPr>
              <a:t> </a:t>
            </a:r>
            <a:r>
              <a:rPr lang="fr-CA" i="1" dirty="0" smtClean="0">
                <a:solidFill>
                  <a:srgbClr val="3F5FBF"/>
                </a:solidFill>
              </a:rPr>
              <a:t>/*toutes les balises ayant l attribut type et la valeur </a:t>
            </a:r>
            <a:r>
              <a:rPr lang="fr-CA" i="1" dirty="0" err="1" smtClean="0">
                <a:solidFill>
                  <a:srgbClr val="3F5FBF"/>
                </a:solidFill>
              </a:rPr>
              <a:t>text</a:t>
            </a:r>
            <a:r>
              <a:rPr lang="fr-CA" i="1" dirty="0" smtClean="0">
                <a:solidFill>
                  <a:srgbClr val="3F5FBF"/>
                </a:solidFill>
              </a:rPr>
              <a:t>*/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pPr>
              <a:buNone/>
            </a:pPr>
            <a:r>
              <a:rPr lang="fr-FR" b="1" i="1" dirty="0" smtClean="0">
                <a:solidFill>
                  <a:srgbClr val="3F7F7F"/>
                </a:solidFill>
              </a:rPr>
              <a:t>input[type="</a:t>
            </a:r>
            <a:r>
              <a:rPr lang="fr-FR" b="1" i="1" dirty="0" err="1" smtClean="0">
                <a:solidFill>
                  <a:srgbClr val="3F7F7F"/>
                </a:solidFill>
              </a:rPr>
              <a:t>password</a:t>
            </a:r>
            <a:r>
              <a:rPr lang="fr-FR" b="1" i="1" dirty="0" smtClean="0">
                <a:solidFill>
                  <a:srgbClr val="3F7F7F"/>
                </a:solidFill>
              </a:rPr>
              <a:t>"]</a:t>
            </a:r>
            <a:r>
              <a:rPr lang="fr-FR" b="1" i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CA" dirty="0" smtClean="0">
                <a:solidFill>
                  <a:srgbClr val="7F007F"/>
                </a:solidFill>
              </a:rPr>
              <a:t>	</a:t>
            </a:r>
            <a:r>
              <a:rPr lang="fr-CA" dirty="0" err="1" smtClean="0">
                <a:solidFill>
                  <a:srgbClr val="7F007F"/>
                </a:solidFill>
              </a:rPr>
              <a:t>color</a:t>
            </a:r>
            <a:r>
              <a:rPr lang="fr-CA" dirty="0" smtClean="0">
                <a:solidFill>
                  <a:srgbClr val="000000"/>
                </a:solidFill>
              </a:rPr>
              <a:t>: </a:t>
            </a:r>
            <a:r>
              <a:rPr lang="fr-FR" i="1" dirty="0" err="1" smtClean="0">
                <a:solidFill>
                  <a:srgbClr val="2A00E1"/>
                </a:solidFill>
              </a:rPr>
              <a:t>pink</a:t>
            </a:r>
            <a:r>
              <a:rPr lang="fr-FR" i="1" dirty="0" smtClean="0">
                <a:solidFill>
                  <a:srgbClr val="2A00E1"/>
                </a:solidFill>
              </a:rPr>
              <a:t>;</a:t>
            </a:r>
            <a:r>
              <a:rPr lang="fr-CA" i="1" dirty="0" smtClean="0">
                <a:solidFill>
                  <a:srgbClr val="000000"/>
                </a:solidFill>
              </a:rPr>
              <a:t> </a:t>
            </a:r>
            <a:r>
              <a:rPr lang="fr-CA" i="1" dirty="0" smtClean="0">
                <a:solidFill>
                  <a:srgbClr val="3F5FBF"/>
                </a:solidFill>
              </a:rPr>
              <a:t>/*tous les input de type </a:t>
            </a:r>
            <a:r>
              <a:rPr lang="fr-CA" i="1" dirty="0" err="1" smtClean="0">
                <a:solidFill>
                  <a:srgbClr val="3F5FBF"/>
                </a:solidFill>
              </a:rPr>
              <a:t>password</a:t>
            </a:r>
            <a:r>
              <a:rPr lang="fr-CA" i="1" dirty="0" smtClean="0">
                <a:solidFill>
                  <a:srgbClr val="3F5FBF"/>
                </a:solidFill>
              </a:rPr>
              <a:t>*/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pPr>
              <a:buNone/>
            </a:pPr>
            <a:endParaRPr lang="fr-FR" dirty="0" smtClean="0">
              <a:solidFill>
                <a:srgbClr val="000000"/>
              </a:solidFill>
            </a:endParaRPr>
          </a:p>
          <a:p>
            <a:endParaRPr lang="fr-FR" dirty="0" smtClean="0"/>
          </a:p>
        </p:txBody>
      </p:sp>
      <p:grpSp>
        <p:nvGrpSpPr>
          <p:cNvPr id="4" name="Groupe 4"/>
          <p:cNvGrpSpPr/>
          <p:nvPr/>
        </p:nvGrpSpPr>
        <p:grpSpPr>
          <a:xfrm>
            <a:off x="0" y="6381329"/>
            <a:ext cx="9144000" cy="476671"/>
            <a:chOff x="0" y="6381329"/>
            <a:chExt cx="9144000" cy="476671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8" name="Image 7" descr="logo-isi pour manuel"/>
            <p:cNvPicPr/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8250349" y="6597352"/>
              <a:ext cx="893651" cy="2606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/>
          <a:lstStyle/>
          <a:p>
            <a:r>
              <a:rPr lang="fr-CA" dirty="0" smtClean="0"/>
              <a:t>Notion enfant/parent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525963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fr-CA" dirty="0" smtClean="0"/>
              <a:t>Un </a:t>
            </a:r>
            <a:r>
              <a:rPr lang="fr-CA" b="1" dirty="0" smtClean="0"/>
              <a:t>ancêtre</a:t>
            </a:r>
            <a:r>
              <a:rPr lang="fr-CA" dirty="0" smtClean="0"/>
              <a:t> est une balise situé dans la même branche qu'une autre balise, mais d'un niveau supérieur dans la hiérarchie</a:t>
            </a:r>
          </a:p>
          <a:p>
            <a:pPr lvl="0"/>
            <a:r>
              <a:rPr lang="fr-CA" dirty="0" smtClean="0"/>
              <a:t>Un </a:t>
            </a:r>
            <a:r>
              <a:rPr lang="fr-CA" b="1" dirty="0" smtClean="0"/>
              <a:t>descendant</a:t>
            </a:r>
            <a:r>
              <a:rPr lang="fr-CA" dirty="0" smtClean="0"/>
              <a:t> est une balise situé dans la même branche qu'une autre balise, mais d'un niveau inférieur dans la hiérarchie</a:t>
            </a:r>
          </a:p>
          <a:p>
            <a:pPr lvl="0"/>
            <a:r>
              <a:rPr lang="fr-CA" dirty="0" smtClean="0"/>
              <a:t>Un </a:t>
            </a:r>
            <a:r>
              <a:rPr lang="fr-CA" b="1" dirty="0" smtClean="0"/>
              <a:t>parent</a:t>
            </a:r>
            <a:r>
              <a:rPr lang="fr-CA" dirty="0" smtClean="0"/>
              <a:t> est une balise situé dans la même branche qu'une autre balise, mais est juste au-dessus dans la hiérarchie</a:t>
            </a:r>
          </a:p>
          <a:p>
            <a:pPr lvl="0"/>
            <a:r>
              <a:rPr lang="fr-CA" dirty="0" smtClean="0"/>
              <a:t>Un </a:t>
            </a:r>
            <a:r>
              <a:rPr lang="fr-CA" b="1" dirty="0" smtClean="0"/>
              <a:t>enfant</a:t>
            </a:r>
            <a:r>
              <a:rPr lang="fr-CA" dirty="0" smtClean="0"/>
              <a:t> est une balise situé dans la même branche qu'une autre balise, mais est juste en dessous dans la hiérarchie</a:t>
            </a:r>
          </a:p>
          <a:p>
            <a:pPr lvl="0"/>
            <a:r>
              <a:rPr lang="fr-CA" dirty="0" smtClean="0"/>
              <a:t>Un est </a:t>
            </a:r>
            <a:r>
              <a:rPr lang="fr-CA" b="1" dirty="0" smtClean="0"/>
              <a:t>frère</a:t>
            </a:r>
            <a:r>
              <a:rPr lang="fr-CA" dirty="0" smtClean="0"/>
              <a:t> d'un autre s'ils partagent le même père</a:t>
            </a:r>
            <a:endParaRPr lang="fr-CA" dirty="0"/>
          </a:p>
        </p:txBody>
      </p:sp>
      <p:grpSp>
        <p:nvGrpSpPr>
          <p:cNvPr id="4" name="Groupe 4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1484784"/>
            <a:ext cx="3312368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/>
          <a:lstStyle/>
          <a:p>
            <a:r>
              <a:rPr lang="fr-CA" dirty="0" smtClean="0"/>
              <a:t>Notion enfant/parent</a:t>
            </a:r>
            <a:endParaRPr lang="fr-CA" dirty="0"/>
          </a:p>
        </p:txBody>
      </p:sp>
      <p:grpSp>
        <p:nvGrpSpPr>
          <p:cNvPr id="4" name="Groupe 4"/>
          <p:cNvGrpSpPr/>
          <p:nvPr/>
        </p:nvGrpSpPr>
        <p:grpSpPr>
          <a:xfrm>
            <a:off x="-27220" y="6408667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0" name="Image 9" descr="dom_descendants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504" y="1772816"/>
            <a:ext cx="2952328" cy="46085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Image 10" descr="dom_freres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4168" y="1772816"/>
            <a:ext cx="3059832" cy="46085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/>
          <a:lstStyle/>
          <a:p>
            <a:r>
              <a:rPr lang="fr-CA" dirty="0" smtClean="0"/>
              <a:t>Sélecteurs de "Généalogie"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525963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fr-CA" dirty="0" smtClean="0"/>
              <a:t>Sélecteur d'enfants </a:t>
            </a:r>
            <a:r>
              <a:rPr lang="fr-CA" b="1" dirty="0" smtClean="0"/>
              <a:t>direct</a:t>
            </a:r>
            <a:endParaRPr lang="fr-FR" b="1" dirty="0" smtClean="0"/>
          </a:p>
          <a:p>
            <a:pPr>
              <a:buNone/>
            </a:pPr>
            <a:r>
              <a:rPr lang="fr-FR" b="1" dirty="0" err="1" smtClean="0">
                <a:solidFill>
                  <a:srgbClr val="3F7F7F"/>
                </a:solidFill>
              </a:rPr>
              <a:t>div</a:t>
            </a:r>
            <a:r>
              <a:rPr lang="fr-FR" b="1" dirty="0" smtClean="0">
                <a:solidFill>
                  <a:srgbClr val="3F7F7F"/>
                </a:solidFill>
              </a:rPr>
              <a:t> &gt; h2</a:t>
            </a:r>
            <a:r>
              <a:rPr lang="fr-FR" b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CA" dirty="0" smtClean="0">
                <a:solidFill>
                  <a:srgbClr val="7F007F"/>
                </a:solidFill>
              </a:rPr>
              <a:t>	</a:t>
            </a:r>
            <a:r>
              <a:rPr lang="fr-CA" dirty="0" err="1" smtClean="0">
                <a:solidFill>
                  <a:srgbClr val="7F007F"/>
                </a:solidFill>
              </a:rPr>
              <a:t>color</a:t>
            </a:r>
            <a:r>
              <a:rPr lang="fr-CA" dirty="0" smtClean="0">
                <a:solidFill>
                  <a:srgbClr val="000000"/>
                </a:solidFill>
              </a:rPr>
              <a:t>: </a:t>
            </a:r>
            <a:r>
              <a:rPr lang="fr-CA" i="1" dirty="0" err="1" smtClean="0">
                <a:solidFill>
                  <a:srgbClr val="2A00E1"/>
                </a:solidFill>
              </a:rPr>
              <a:t>red</a:t>
            </a:r>
            <a:r>
              <a:rPr lang="fr-CA" i="1" dirty="0" smtClean="0">
                <a:solidFill>
                  <a:srgbClr val="000000"/>
                </a:solidFill>
              </a:rPr>
              <a:t>;</a:t>
            </a:r>
            <a:r>
              <a:rPr lang="fr-CA" i="1" dirty="0" smtClean="0">
                <a:solidFill>
                  <a:srgbClr val="3F5FBF"/>
                </a:solidFill>
              </a:rPr>
              <a:t>/*tous les enfants h2 de toutes les </a:t>
            </a:r>
            <a:r>
              <a:rPr lang="fr-CA" i="1" dirty="0" err="1" smtClean="0">
                <a:solidFill>
                  <a:srgbClr val="3F5FBF"/>
                </a:solidFill>
              </a:rPr>
              <a:t>div</a:t>
            </a:r>
            <a:r>
              <a:rPr lang="fr-CA" i="1" dirty="0" smtClean="0">
                <a:solidFill>
                  <a:srgbClr val="3F5FBF"/>
                </a:solidFill>
              </a:rPr>
              <a:t> */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pPr>
              <a:buNone/>
            </a:pPr>
            <a:endParaRPr lang="fr-FR" dirty="0" smtClean="0">
              <a:solidFill>
                <a:srgbClr val="000000"/>
              </a:solidFill>
            </a:endParaRPr>
          </a:p>
          <a:p>
            <a:r>
              <a:rPr lang="en-CA" dirty="0" smtClean="0">
                <a:solidFill>
                  <a:srgbClr val="000000"/>
                </a:solidFill>
              </a:rPr>
              <a:t>Selector de frère adjacent(qui suit)</a:t>
            </a:r>
          </a:p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h1 + </a:t>
            </a:r>
            <a:r>
              <a:rPr lang="fr-FR" b="1" dirty="0" err="1" smtClean="0">
                <a:solidFill>
                  <a:srgbClr val="3F7F7F"/>
                </a:solidFill>
              </a:rPr>
              <a:t>div</a:t>
            </a:r>
            <a:r>
              <a:rPr lang="fr-FR" b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CA" dirty="0" smtClean="0">
                <a:solidFill>
                  <a:srgbClr val="7F007F"/>
                </a:solidFill>
              </a:rPr>
              <a:t>	</a:t>
            </a:r>
            <a:r>
              <a:rPr lang="fr-CA" dirty="0" err="1" smtClean="0">
                <a:solidFill>
                  <a:srgbClr val="7F007F"/>
                </a:solidFill>
              </a:rPr>
              <a:t>margin</a:t>
            </a:r>
            <a:r>
              <a:rPr lang="fr-CA" dirty="0" smtClean="0">
                <a:solidFill>
                  <a:srgbClr val="7F007F"/>
                </a:solidFill>
              </a:rPr>
              <a:t>-top</a:t>
            </a:r>
            <a:r>
              <a:rPr lang="fr-CA" dirty="0" smtClean="0">
                <a:solidFill>
                  <a:srgbClr val="000000"/>
                </a:solidFill>
              </a:rPr>
              <a:t>:</a:t>
            </a:r>
            <a:r>
              <a:rPr lang="fr-CA" i="1" dirty="0" smtClean="0">
                <a:solidFill>
                  <a:srgbClr val="2A00E1"/>
                </a:solidFill>
              </a:rPr>
              <a:t>10px</a:t>
            </a:r>
            <a:r>
              <a:rPr lang="fr-CA" i="1" dirty="0" smtClean="0">
                <a:solidFill>
                  <a:srgbClr val="000000"/>
                </a:solidFill>
              </a:rPr>
              <a:t>; </a:t>
            </a:r>
            <a:r>
              <a:rPr lang="fr-CA" i="1" dirty="0" smtClean="0">
                <a:solidFill>
                  <a:srgbClr val="3F5FBF"/>
                </a:solidFill>
              </a:rPr>
              <a:t>/*toutes les </a:t>
            </a:r>
            <a:r>
              <a:rPr lang="fr-CA" i="1" dirty="0" err="1" smtClean="0">
                <a:solidFill>
                  <a:srgbClr val="3F5FBF"/>
                </a:solidFill>
              </a:rPr>
              <a:t>div</a:t>
            </a:r>
            <a:r>
              <a:rPr lang="fr-CA" i="1" dirty="0" smtClean="0">
                <a:solidFill>
                  <a:srgbClr val="3F5FBF"/>
                </a:solidFill>
              </a:rPr>
              <a:t> qui ont un </a:t>
            </a:r>
            <a:r>
              <a:rPr lang="fr-CA" i="1" dirty="0" err="1" smtClean="0">
                <a:solidFill>
                  <a:srgbClr val="3F5FBF"/>
                </a:solidFill>
              </a:rPr>
              <a:t>frere</a:t>
            </a:r>
            <a:r>
              <a:rPr lang="fr-CA" i="1" dirty="0" smtClean="0">
                <a:solidFill>
                  <a:srgbClr val="3F5FBF"/>
                </a:solidFill>
              </a:rPr>
              <a:t> adjacent h1 */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endParaRPr lang="fr-CA" dirty="0"/>
          </a:p>
        </p:txBody>
      </p:sp>
      <p:grpSp>
        <p:nvGrpSpPr>
          <p:cNvPr id="4" name="Groupe 4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/>
          <a:lstStyle/>
          <a:p>
            <a:r>
              <a:rPr lang="fr-CA" dirty="0" smtClean="0"/>
              <a:t>Sélecteurs :pseudo-class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525963"/>
          </a:xfrm>
        </p:spPr>
        <p:txBody>
          <a:bodyPr>
            <a:normAutofit fontScale="55000" lnSpcReduction="20000"/>
          </a:bodyPr>
          <a:lstStyle/>
          <a:p>
            <a:pPr lvl="0">
              <a:buNone/>
            </a:pPr>
            <a:r>
              <a:rPr lang="fr-FR" dirty="0" smtClean="0"/>
              <a:t>	Permet de spécifier un style lorsque la balise se trouve dans cette état</a:t>
            </a:r>
          </a:p>
          <a:p>
            <a:pPr lvl="1"/>
            <a:r>
              <a:rPr lang="fr-FR" dirty="0" smtClean="0"/>
              <a:t>:</a:t>
            </a:r>
            <a:r>
              <a:rPr lang="fr-FR" dirty="0" err="1" smtClean="0"/>
              <a:t>link</a:t>
            </a:r>
            <a:endParaRPr lang="fr-FR" dirty="0" smtClean="0"/>
          </a:p>
          <a:p>
            <a:pPr lvl="1"/>
            <a:r>
              <a:rPr lang="fr-FR" dirty="0" smtClean="0"/>
              <a:t>:</a:t>
            </a:r>
            <a:r>
              <a:rPr lang="fr-FR" dirty="0" err="1" smtClean="0"/>
              <a:t>visited</a:t>
            </a:r>
            <a:endParaRPr lang="fr-FR" dirty="0" smtClean="0"/>
          </a:p>
          <a:p>
            <a:pPr lvl="1"/>
            <a:r>
              <a:rPr lang="fr-FR" dirty="0" smtClean="0"/>
              <a:t>:</a:t>
            </a:r>
            <a:r>
              <a:rPr lang="fr-FR" dirty="0" err="1" smtClean="0"/>
              <a:t>hover</a:t>
            </a:r>
            <a:endParaRPr lang="fr-FR" dirty="0" smtClean="0"/>
          </a:p>
          <a:p>
            <a:pPr lvl="1"/>
            <a:r>
              <a:rPr lang="fr-FR" dirty="0" smtClean="0"/>
              <a:t>:active</a:t>
            </a:r>
          </a:p>
          <a:p>
            <a:pPr lvl="1"/>
            <a:endParaRPr lang="fr-FR" dirty="0" smtClean="0"/>
          </a:p>
          <a:p>
            <a:pPr lvl="0">
              <a:buNone/>
            </a:pPr>
            <a:r>
              <a:rPr lang="fr-FR" dirty="0" smtClean="0"/>
              <a:t>	rem :respecter ordre sur les liens</a:t>
            </a:r>
          </a:p>
          <a:p>
            <a:pPr lvl="1"/>
            <a:r>
              <a:rPr lang="en-CA" dirty="0" smtClean="0"/>
              <a:t>:focus</a:t>
            </a:r>
          </a:p>
          <a:p>
            <a:pPr lvl="1"/>
            <a:r>
              <a:rPr lang="en-CA" dirty="0" smtClean="0"/>
              <a:t>:first-letter</a:t>
            </a:r>
          </a:p>
          <a:p>
            <a:pPr lvl="1"/>
            <a:r>
              <a:rPr lang="en-CA" dirty="0" smtClean="0"/>
              <a:t>:first-line</a:t>
            </a:r>
          </a:p>
          <a:p>
            <a:pPr lvl="1"/>
            <a:r>
              <a:rPr lang="en-CA" dirty="0" smtClean="0"/>
              <a:t>:first-child</a:t>
            </a:r>
          </a:p>
          <a:p>
            <a:pPr lvl="1"/>
            <a:r>
              <a:rPr lang="en-CA" dirty="0" smtClean="0"/>
              <a:t>:</a:t>
            </a:r>
            <a:r>
              <a:rPr lang="en-CA" dirty="0" err="1" smtClean="0"/>
              <a:t>befor</a:t>
            </a:r>
            <a:endParaRPr lang="en-CA" dirty="0" smtClean="0"/>
          </a:p>
          <a:p>
            <a:pPr lvl="1"/>
            <a:r>
              <a:rPr lang="en-CA" dirty="0" smtClean="0"/>
              <a:t>:after</a:t>
            </a:r>
          </a:p>
          <a:p>
            <a:pPr lvl="1"/>
            <a:endParaRPr lang="fr-FR" dirty="0" smtClean="0"/>
          </a:p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h1</a:t>
            </a:r>
            <a:r>
              <a:rPr lang="fr-FR" b="1" i="1" dirty="0" smtClean="0">
                <a:solidFill>
                  <a:srgbClr val="3F7F7F"/>
                </a:solidFill>
              </a:rPr>
              <a:t>:</a:t>
            </a:r>
            <a:r>
              <a:rPr lang="fr-FR" b="1" i="1" dirty="0" err="1" smtClean="0">
                <a:solidFill>
                  <a:srgbClr val="3F7F7F"/>
                </a:solidFill>
              </a:rPr>
              <a:t>hover</a:t>
            </a:r>
            <a:r>
              <a:rPr lang="fr-FR" b="1" i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color</a:t>
            </a:r>
            <a:r>
              <a:rPr lang="fr-FR" dirty="0" err="1" smtClean="0">
                <a:solidFill>
                  <a:srgbClr val="000000"/>
                </a:solidFill>
              </a:rPr>
              <a:t>:</a:t>
            </a:r>
            <a:r>
              <a:rPr lang="fr-FR" i="1" dirty="0" err="1" smtClean="0">
                <a:solidFill>
                  <a:srgbClr val="2A00E1"/>
                </a:solidFill>
              </a:rPr>
              <a:t>green</a:t>
            </a:r>
            <a:r>
              <a:rPr lang="fr-FR" i="1" dirty="0" smtClean="0">
                <a:solidFill>
                  <a:srgbClr val="000000"/>
                </a:solidFill>
              </a:rPr>
              <a:t>;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  <a:endParaRPr lang="fr-FR" dirty="0" smtClean="0"/>
          </a:p>
          <a:p>
            <a:endParaRPr lang="en-CA" dirty="0" smtClean="0"/>
          </a:p>
          <a:p>
            <a:pPr>
              <a:buNone/>
            </a:pPr>
            <a:endParaRPr lang="fr-FR" dirty="0" smtClean="0"/>
          </a:p>
          <a:p>
            <a:pPr lvl="0">
              <a:buNone/>
            </a:pPr>
            <a:endParaRPr lang="fr-FR" dirty="0" smtClean="0"/>
          </a:p>
        </p:txBody>
      </p:sp>
      <p:grpSp>
        <p:nvGrpSpPr>
          <p:cNvPr id="4" name="Groupe 4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r>
              <a:rPr lang="fr-CA" dirty="0" smtClean="0"/>
              <a:t>Regrouper les sélecteurs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525963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h1 </a:t>
            </a:r>
            <a:r>
              <a:rPr lang="fr-FR" b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color</a:t>
            </a:r>
            <a:r>
              <a:rPr lang="fr-FR" dirty="0" smtClean="0">
                <a:solidFill>
                  <a:srgbClr val="000000"/>
                </a:solidFill>
              </a:rPr>
              <a:t>: </a:t>
            </a:r>
            <a:r>
              <a:rPr lang="fr-FR" i="1" dirty="0" err="1" smtClean="0">
                <a:solidFill>
                  <a:srgbClr val="2A00E1"/>
                </a:solidFill>
              </a:rPr>
              <a:t>red</a:t>
            </a:r>
            <a:r>
              <a:rPr lang="fr-FR" i="1" dirty="0" smtClean="0">
                <a:solidFill>
                  <a:srgbClr val="000000"/>
                </a:solidFill>
              </a:rPr>
              <a:t>;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  <a:endParaRPr lang="fr-FR" dirty="0" smtClean="0"/>
          </a:p>
          <a:p>
            <a:pPr>
              <a:buNone/>
            </a:pPr>
            <a:r>
              <a:rPr lang="fr-FR" b="1" dirty="0" err="1" smtClean="0">
                <a:solidFill>
                  <a:srgbClr val="3F7F7F"/>
                </a:solidFill>
              </a:rPr>
              <a:t>p</a:t>
            </a:r>
            <a:r>
              <a:rPr lang="fr-FR" b="1" i="1" dirty="0" err="1" smtClean="0">
                <a:solidFill>
                  <a:srgbClr val="3F7F7F"/>
                </a:solidFill>
              </a:rPr>
              <a:t>.maClass</a:t>
            </a:r>
            <a:r>
              <a:rPr lang="fr-FR" b="1" i="1" dirty="0" smtClean="0">
                <a:solidFill>
                  <a:srgbClr val="3F7F7F"/>
                </a:solidFill>
              </a:rPr>
              <a:t> </a:t>
            </a:r>
            <a:r>
              <a:rPr lang="fr-FR" b="1" i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color</a:t>
            </a:r>
            <a:r>
              <a:rPr lang="fr-FR" dirty="0" smtClean="0">
                <a:solidFill>
                  <a:srgbClr val="000000"/>
                </a:solidFill>
              </a:rPr>
              <a:t>: </a:t>
            </a:r>
            <a:r>
              <a:rPr lang="fr-FR" i="1" dirty="0" err="1" smtClean="0">
                <a:solidFill>
                  <a:srgbClr val="2A00E1"/>
                </a:solidFill>
              </a:rPr>
              <a:t>red</a:t>
            </a:r>
            <a:endParaRPr lang="fr-FR" i="1" dirty="0" smtClean="0">
              <a:solidFill>
                <a:srgbClr val="2A00E1"/>
              </a:solidFill>
            </a:endParaRP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  <a:endParaRPr lang="fr-FR" dirty="0" smtClean="0"/>
          </a:p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p &gt; a </a:t>
            </a:r>
            <a:r>
              <a:rPr lang="fr-FR" b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color</a:t>
            </a:r>
            <a:r>
              <a:rPr lang="fr-FR" dirty="0" smtClean="0">
                <a:solidFill>
                  <a:srgbClr val="000000"/>
                </a:solidFill>
              </a:rPr>
              <a:t>: </a:t>
            </a:r>
            <a:r>
              <a:rPr lang="fr-FR" i="1" dirty="0" err="1" smtClean="0">
                <a:solidFill>
                  <a:srgbClr val="2A00E1"/>
                </a:solidFill>
              </a:rPr>
              <a:t>red</a:t>
            </a:r>
            <a:endParaRPr lang="fr-FR" i="1" dirty="0" smtClean="0">
              <a:solidFill>
                <a:srgbClr val="2A00E1"/>
              </a:solidFill>
            </a:endParaRP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  <a:endParaRPr lang="fr-FR" dirty="0" smtClean="0"/>
          </a:p>
          <a:p>
            <a:pPr>
              <a:buNone/>
            </a:pPr>
            <a:r>
              <a:rPr lang="fr-FR" b="1" dirty="0" err="1" smtClean="0">
                <a:solidFill>
                  <a:srgbClr val="3F7F7F"/>
                </a:solidFill>
              </a:rPr>
              <a:t>span</a:t>
            </a:r>
            <a:r>
              <a:rPr lang="fr-FR" b="1" dirty="0" smtClean="0">
                <a:solidFill>
                  <a:srgbClr val="3F7F7F"/>
                </a:solidFill>
              </a:rPr>
              <a:t> </a:t>
            </a:r>
            <a:r>
              <a:rPr lang="fr-FR" b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color</a:t>
            </a:r>
            <a:r>
              <a:rPr lang="fr-FR" dirty="0" err="1" smtClean="0">
                <a:solidFill>
                  <a:srgbClr val="000000"/>
                </a:solidFill>
              </a:rPr>
              <a:t>:</a:t>
            </a:r>
            <a:r>
              <a:rPr lang="fr-FR" i="1" dirty="0" err="1" smtClean="0">
                <a:solidFill>
                  <a:srgbClr val="2A00E1"/>
                </a:solidFill>
              </a:rPr>
              <a:t>red</a:t>
            </a:r>
            <a:r>
              <a:rPr lang="fr-FR" i="1" dirty="0" smtClean="0">
                <a:solidFill>
                  <a:srgbClr val="000000"/>
                </a:solidFill>
              </a:rPr>
              <a:t>;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</a:p>
          <a:p>
            <a:pPr>
              <a:buNone/>
            </a:pPr>
            <a:r>
              <a:rPr lang="en-CA" dirty="0" err="1" smtClean="0">
                <a:solidFill>
                  <a:srgbClr val="000000"/>
                </a:solidFill>
              </a:rPr>
              <a:t>Devient</a:t>
            </a:r>
            <a:r>
              <a:rPr lang="en-CA" dirty="0" smtClean="0">
                <a:solidFill>
                  <a:srgbClr val="000000"/>
                </a:solidFill>
              </a:rPr>
              <a:t>:</a:t>
            </a:r>
          </a:p>
          <a:p>
            <a:pPr>
              <a:buNone/>
            </a:pPr>
            <a:r>
              <a:rPr lang="fr-FR" b="1" dirty="0" smtClean="0">
                <a:solidFill>
                  <a:srgbClr val="3F7F7F"/>
                </a:solidFill>
              </a:rPr>
              <a:t>h1, </a:t>
            </a:r>
            <a:r>
              <a:rPr lang="fr-FR" b="1" dirty="0" err="1" smtClean="0">
                <a:solidFill>
                  <a:srgbClr val="3F7F7F"/>
                </a:solidFill>
              </a:rPr>
              <a:t>p</a:t>
            </a:r>
            <a:r>
              <a:rPr lang="fr-FR" b="1" i="1" dirty="0" err="1" smtClean="0">
                <a:solidFill>
                  <a:srgbClr val="3F7F7F"/>
                </a:solidFill>
              </a:rPr>
              <a:t>.maClass</a:t>
            </a:r>
            <a:r>
              <a:rPr lang="fr-FR" b="1" i="1" dirty="0" smtClean="0">
                <a:solidFill>
                  <a:srgbClr val="3F7F7F"/>
                </a:solidFill>
              </a:rPr>
              <a:t>, p&gt;a, </a:t>
            </a:r>
            <a:r>
              <a:rPr lang="fr-FR" b="1" i="1" dirty="0" err="1" smtClean="0">
                <a:solidFill>
                  <a:srgbClr val="3F7F7F"/>
                </a:solidFill>
              </a:rPr>
              <a:t>span</a:t>
            </a:r>
            <a:r>
              <a:rPr lang="fr-FR" b="1" i="1" dirty="0" smtClean="0">
                <a:solidFill>
                  <a:srgbClr val="000000"/>
                </a:solidFill>
              </a:rPr>
              <a:t>{</a:t>
            </a:r>
          </a:p>
          <a:p>
            <a:pPr>
              <a:buNone/>
            </a:pPr>
            <a:r>
              <a:rPr lang="fr-FR" dirty="0" smtClean="0">
                <a:solidFill>
                  <a:srgbClr val="7F007F"/>
                </a:solidFill>
              </a:rPr>
              <a:t>	</a:t>
            </a:r>
            <a:r>
              <a:rPr lang="fr-FR" dirty="0" err="1" smtClean="0">
                <a:solidFill>
                  <a:srgbClr val="7F007F"/>
                </a:solidFill>
              </a:rPr>
              <a:t>color</a:t>
            </a:r>
            <a:r>
              <a:rPr lang="fr-FR" dirty="0" err="1" smtClean="0">
                <a:solidFill>
                  <a:srgbClr val="000000"/>
                </a:solidFill>
              </a:rPr>
              <a:t>:</a:t>
            </a:r>
            <a:r>
              <a:rPr lang="fr-FR" i="1" dirty="0" err="1" smtClean="0">
                <a:solidFill>
                  <a:srgbClr val="2A00E1"/>
                </a:solidFill>
              </a:rPr>
              <a:t>red</a:t>
            </a:r>
            <a:r>
              <a:rPr lang="fr-FR" i="1" dirty="0" smtClean="0">
                <a:solidFill>
                  <a:srgbClr val="000000"/>
                </a:solidFill>
              </a:rPr>
              <a:t>;</a:t>
            </a:r>
          </a:p>
          <a:p>
            <a:pPr>
              <a:buNone/>
            </a:pPr>
            <a:r>
              <a:rPr lang="fr-FR" dirty="0" smtClean="0">
                <a:solidFill>
                  <a:srgbClr val="000000"/>
                </a:solidFill>
              </a:rPr>
              <a:t>}</a:t>
            </a:r>
            <a:endParaRPr lang="fr-FR" dirty="0" smtClean="0"/>
          </a:p>
        </p:txBody>
      </p:sp>
      <p:grpSp>
        <p:nvGrpSpPr>
          <p:cNvPr id="4" name="Groupe 4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E1393D"/>
            </a:solidFill>
          </a:ln>
        </p:spPr>
        <p:txBody>
          <a:bodyPr>
            <a:normAutofit/>
          </a:bodyPr>
          <a:lstStyle/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Les couleurs en CSS</a:t>
            </a:r>
            <a:endParaRPr lang="fr-FR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709119"/>
          </a:xfrm>
        </p:spPr>
        <p:txBody>
          <a:bodyPr>
            <a:normAutofit fontScale="85000" lnSpcReduction="20000"/>
          </a:bodyPr>
          <a:lstStyle/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Nom de la couleur en anglais</a:t>
            </a:r>
          </a:p>
          <a:p>
            <a:pPr lvl="1">
              <a:buNone/>
            </a:pPr>
            <a:r>
              <a:rPr lang="fr-FR" dirty="0" err="1" smtClean="0">
                <a:latin typeface="Consolas" pitchFamily="49" charset="0"/>
                <a:cs typeface="Consolas" pitchFamily="49" charset="0"/>
              </a:rPr>
              <a:t>Red</a:t>
            </a:r>
            <a:r>
              <a:rPr lang="fr-FR" dirty="0" smtClean="0">
                <a:latin typeface="Consolas" pitchFamily="49" charset="0"/>
                <a:cs typeface="Consolas" pitchFamily="49" charset="0"/>
              </a:rPr>
              <a:t>, </a:t>
            </a:r>
            <a:r>
              <a:rPr lang="fr-FR" dirty="0" err="1" smtClean="0">
                <a:latin typeface="Consolas" pitchFamily="49" charset="0"/>
                <a:cs typeface="Consolas" pitchFamily="49" charset="0"/>
              </a:rPr>
              <a:t>blue</a:t>
            </a:r>
            <a:r>
              <a:rPr lang="fr-FR" dirty="0" smtClean="0">
                <a:latin typeface="Consolas" pitchFamily="49" charset="0"/>
                <a:cs typeface="Consolas" pitchFamily="49" charset="0"/>
              </a:rPr>
              <a:t>, </a:t>
            </a:r>
            <a:r>
              <a:rPr lang="fr-FR" dirty="0" err="1" smtClean="0">
                <a:latin typeface="Consolas" pitchFamily="49" charset="0"/>
                <a:cs typeface="Consolas" pitchFamily="49" charset="0"/>
              </a:rPr>
              <a:t>yellow</a:t>
            </a:r>
            <a:r>
              <a:rPr lang="fr-FR" dirty="0" smtClean="0">
                <a:latin typeface="Consolas" pitchFamily="49" charset="0"/>
                <a:cs typeface="Consolas" pitchFamily="49" charset="0"/>
              </a:rPr>
              <a:t> </a:t>
            </a:r>
            <a:r>
              <a:rPr lang="fr-FR" dirty="0" smtClean="0">
                <a:latin typeface="Consolas" pitchFamily="49" charset="0"/>
                <a:cs typeface="Consolas" pitchFamily="49" charset="0"/>
                <a:hlinkClick r:id="rId2"/>
              </a:rPr>
              <a:t>liste couleurs</a:t>
            </a:r>
            <a:endParaRPr lang="fr-FR" dirty="0" smtClean="0">
              <a:latin typeface="Consolas" pitchFamily="49" charset="0"/>
              <a:cs typeface="Consolas" pitchFamily="49" charset="0"/>
            </a:endParaRPr>
          </a:p>
          <a:p>
            <a:pPr lvl="1">
              <a:buNone/>
            </a:pPr>
            <a:endParaRPr lang="fr-FR" dirty="0" smtClean="0">
              <a:latin typeface="Consolas" pitchFamily="49" charset="0"/>
              <a:cs typeface="Consolas" pitchFamily="49" charset="0"/>
            </a:endParaRPr>
          </a:p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En donnant la valeur </a:t>
            </a:r>
            <a:r>
              <a:rPr lang="fr-FR" dirty="0" err="1" smtClean="0">
                <a:latin typeface="Consolas" pitchFamily="49" charset="0"/>
                <a:cs typeface="Consolas" pitchFamily="49" charset="0"/>
              </a:rPr>
              <a:t>hexadecimal</a:t>
            </a:r>
            <a:endParaRPr lang="fr-FR" dirty="0" smtClean="0">
              <a:latin typeface="Consolas" pitchFamily="49" charset="0"/>
              <a:cs typeface="Consolas" pitchFamily="49" charset="0"/>
            </a:endParaRPr>
          </a:p>
          <a:p>
            <a:pPr lvl="1"/>
            <a:r>
              <a:rPr lang="fr-FR" dirty="0" smtClean="0">
                <a:latin typeface="Consolas" pitchFamily="49" charset="0"/>
                <a:cs typeface="Consolas" pitchFamily="49" charset="0"/>
              </a:rPr>
              <a:t>   #e1393d,   #e1e83d,    #19cf24</a:t>
            </a:r>
          </a:p>
          <a:p>
            <a:pPr lvl="1"/>
            <a:r>
              <a:rPr lang="fr-FR" dirty="0" smtClean="0">
                <a:latin typeface="Consolas" pitchFamily="49" charset="0"/>
                <a:cs typeface="Consolas" pitchFamily="49" charset="0"/>
              </a:rPr>
              <a:t>Utilisez un logiciel comme : La boite a couleur, pour connaitre la correspondance</a:t>
            </a:r>
          </a:p>
          <a:p>
            <a:pPr lvl="1"/>
            <a:endParaRPr lang="fr-FR" dirty="0" smtClean="0">
              <a:latin typeface="Consolas" pitchFamily="49" charset="0"/>
              <a:cs typeface="Consolas" pitchFamily="49" charset="0"/>
            </a:endParaRPr>
          </a:p>
          <a:p>
            <a:r>
              <a:rPr lang="fr-FR" dirty="0" smtClean="0">
                <a:latin typeface="Consolas" pitchFamily="49" charset="0"/>
                <a:cs typeface="Consolas" pitchFamily="49" charset="0"/>
              </a:rPr>
              <a:t>En RGB pour la valeur de rouge, vert et </a:t>
            </a:r>
            <a:r>
              <a:rPr lang="fr-FR" dirty="0" err="1" smtClean="0">
                <a:latin typeface="Consolas" pitchFamily="49" charset="0"/>
                <a:cs typeface="Consolas" pitchFamily="49" charset="0"/>
              </a:rPr>
              <a:t>blue</a:t>
            </a:r>
            <a:r>
              <a:rPr lang="fr-FR" dirty="0" smtClean="0">
                <a:latin typeface="Consolas" pitchFamily="49" charset="0"/>
                <a:cs typeface="Consolas" pitchFamily="49" charset="0"/>
              </a:rPr>
              <a:t> compris entre 0 et 255</a:t>
            </a:r>
          </a:p>
          <a:p>
            <a:pPr>
              <a:buNone/>
            </a:pPr>
            <a:r>
              <a:rPr lang="fr-FR" dirty="0" smtClean="0"/>
              <a:t>	</a:t>
            </a:r>
            <a:r>
              <a:rPr lang="fr-FR" dirty="0" err="1" smtClean="0"/>
              <a:t>rgb</a:t>
            </a:r>
            <a:r>
              <a:rPr lang="fr-FR" dirty="0" smtClean="0"/>
              <a:t>(255, 234, 165), </a:t>
            </a:r>
            <a:r>
              <a:rPr lang="fr-FR" dirty="0" err="1" smtClean="0"/>
              <a:t>rgb</a:t>
            </a:r>
            <a:r>
              <a:rPr lang="fr-FR" dirty="0" smtClean="0"/>
              <a:t>(255, 98, 165), </a:t>
            </a:r>
            <a:r>
              <a:rPr lang="fr-FR" dirty="0" err="1" smtClean="0"/>
              <a:t>rgb</a:t>
            </a:r>
            <a:r>
              <a:rPr lang="fr-FR" dirty="0" smtClean="0"/>
              <a:t>(176, 5, 88)</a:t>
            </a:r>
            <a:endParaRPr lang="fr-FR" dirty="0" smtClean="0">
              <a:latin typeface="Consolas" pitchFamily="49" charset="0"/>
              <a:cs typeface="Consolas" pitchFamily="49" charset="0"/>
            </a:endParaRPr>
          </a:p>
          <a:p>
            <a:pPr lvl="1">
              <a:buNone/>
            </a:pPr>
            <a:endParaRPr lang="fr-FR" dirty="0" smtClean="0">
              <a:latin typeface="Consolas" pitchFamily="49" charset="0"/>
              <a:cs typeface="Consolas" pitchFamily="49" charset="0"/>
            </a:endParaRPr>
          </a:p>
          <a:p>
            <a:pPr lvl="1">
              <a:buNone/>
            </a:pPr>
            <a:endParaRPr lang="fr-FR" dirty="0" smtClean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381329"/>
            <a:ext cx="8172400" cy="144016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8532440" y="6381329"/>
            <a:ext cx="611560" cy="144016"/>
          </a:xfrm>
          <a:prstGeom prst="rect">
            <a:avLst/>
          </a:prstGeom>
          <a:solidFill>
            <a:srgbClr val="E13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3140968"/>
            <a:ext cx="303262" cy="29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3648" y="3140968"/>
            <a:ext cx="331838" cy="327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75856" y="3140968"/>
            <a:ext cx="288032" cy="292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r>
              <a:rPr lang="fr-CA" dirty="0" smtClean="0"/>
              <a:t>Unités de taille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525963"/>
          </a:xfrm>
        </p:spPr>
        <p:txBody>
          <a:bodyPr>
            <a:normAutofit fontScale="62500" lnSpcReduction="20000"/>
          </a:bodyPr>
          <a:lstStyle/>
          <a:p>
            <a:r>
              <a:rPr lang="fr-FR" b="1" dirty="0" smtClean="0"/>
              <a:t>Tailles absolues(fixes)</a:t>
            </a:r>
          </a:p>
          <a:p>
            <a:pPr lvl="1">
              <a:buNone/>
            </a:pPr>
            <a:r>
              <a:rPr lang="fr-FR" b="1" dirty="0" smtClean="0"/>
              <a:t>A utiliser lorsqu'on connait le devise de sortie</a:t>
            </a:r>
          </a:p>
          <a:p>
            <a:pPr lvl="1"/>
            <a:r>
              <a:rPr lang="fr-FR" b="1" dirty="0" smtClean="0"/>
              <a:t>pt </a:t>
            </a:r>
            <a:r>
              <a:rPr lang="fr-FR" dirty="0" smtClean="0"/>
              <a:t>Point, </a:t>
            </a:r>
            <a:r>
              <a:rPr lang="fr-FR" dirty="0" err="1" smtClean="0"/>
              <a:t>env</a:t>
            </a:r>
            <a:r>
              <a:rPr lang="fr-FR" dirty="0" smtClean="0"/>
              <a:t> 0,35mm</a:t>
            </a:r>
          </a:p>
          <a:p>
            <a:pPr lvl="1"/>
            <a:r>
              <a:rPr lang="fr-FR" b="1" dirty="0" smtClean="0"/>
              <a:t>pc </a:t>
            </a:r>
            <a:r>
              <a:rPr lang="fr-FR" dirty="0" smtClean="0"/>
              <a:t>Pica, </a:t>
            </a:r>
            <a:r>
              <a:rPr lang="fr-FR" dirty="0" err="1" smtClean="0"/>
              <a:t>env</a:t>
            </a:r>
            <a:r>
              <a:rPr lang="fr-FR" dirty="0" smtClean="0"/>
              <a:t> 4,22 mm</a:t>
            </a:r>
          </a:p>
          <a:p>
            <a:pPr lvl="1"/>
            <a:r>
              <a:rPr lang="fr-FR" b="1" dirty="0" smtClean="0"/>
              <a:t>cm </a:t>
            </a:r>
            <a:r>
              <a:rPr lang="fr-FR" dirty="0" smtClean="0"/>
              <a:t>Centimètre</a:t>
            </a:r>
          </a:p>
          <a:p>
            <a:pPr lvl="1"/>
            <a:r>
              <a:rPr lang="fr-FR" b="1" dirty="0" smtClean="0"/>
              <a:t>mm </a:t>
            </a:r>
            <a:r>
              <a:rPr lang="fr-FR" dirty="0" smtClean="0"/>
              <a:t>Millimètre</a:t>
            </a:r>
          </a:p>
          <a:p>
            <a:pPr lvl="1"/>
            <a:r>
              <a:rPr lang="fr-FR" b="1" dirty="0" smtClean="0"/>
              <a:t>in </a:t>
            </a:r>
            <a:r>
              <a:rPr lang="fr-FR" dirty="0" err="1" smtClean="0"/>
              <a:t>Inch</a:t>
            </a:r>
            <a:r>
              <a:rPr lang="fr-FR" dirty="0" smtClean="0"/>
              <a:t> (pouce)</a:t>
            </a:r>
          </a:p>
          <a:p>
            <a:pPr lvl="1"/>
            <a:endParaRPr lang="fr-FR" dirty="0" smtClean="0"/>
          </a:p>
          <a:p>
            <a:r>
              <a:rPr lang="fr-FR" dirty="0" smtClean="0"/>
              <a:t>Taille relatives (pour le web)</a:t>
            </a:r>
          </a:p>
          <a:p>
            <a:pPr lvl="1"/>
            <a:r>
              <a:rPr lang="fr-FR" b="1" dirty="0" smtClean="0"/>
              <a:t>%</a:t>
            </a:r>
            <a:r>
              <a:rPr lang="fr-FR" dirty="0" smtClean="0"/>
              <a:t> Pourcentage par rapport à la valeur de l’élément parent pour la même propriété CSS</a:t>
            </a:r>
          </a:p>
          <a:p>
            <a:pPr lvl="1"/>
            <a:r>
              <a:rPr lang="fr-FR" b="1" dirty="0" smtClean="0"/>
              <a:t>px </a:t>
            </a:r>
            <a:r>
              <a:rPr lang="fr-FR" dirty="0" smtClean="0"/>
              <a:t>Pixels (attention pixels pas toujours même taille)</a:t>
            </a:r>
          </a:p>
          <a:p>
            <a:pPr lvl="1"/>
            <a:r>
              <a:rPr lang="fr-FR" b="1" dirty="0" err="1" smtClean="0"/>
              <a:t>em</a:t>
            </a:r>
            <a:r>
              <a:rPr lang="fr-FR" b="1" dirty="0" smtClean="0"/>
              <a:t> U</a:t>
            </a:r>
            <a:r>
              <a:rPr lang="fr-FR" dirty="0" smtClean="0"/>
              <a:t>nité relative à la taille de police de l’élément concerné (1em = 100% de cette taille), ou à l’élément parent lorsqu’il s’agit de la propriété font-size. </a:t>
            </a:r>
            <a:r>
              <a:rPr lang="fr-FR" dirty="0" err="1" smtClean="0"/>
              <a:t>em</a:t>
            </a:r>
            <a:r>
              <a:rPr lang="fr-FR" dirty="0" smtClean="0"/>
              <a:t> s’héritent du parent.</a:t>
            </a:r>
          </a:p>
          <a:p>
            <a:pPr lvl="1">
              <a:buNone/>
            </a:pPr>
            <a:endParaRPr lang="fr-FR" dirty="0" smtClean="0"/>
          </a:p>
        </p:txBody>
      </p:sp>
      <p:grpSp>
        <p:nvGrpSpPr>
          <p:cNvPr id="4" name="Groupe 4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r>
              <a:rPr lang="fr-CA" dirty="0" smtClean="0"/>
              <a:t>Les polices de caractères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525963"/>
          </a:xfrm>
        </p:spPr>
        <p:txBody>
          <a:bodyPr>
            <a:normAutofit fontScale="85000" lnSpcReduction="20000"/>
          </a:bodyPr>
          <a:lstStyle/>
          <a:p>
            <a:r>
              <a:rPr lang="fr-FR" dirty="0" smtClean="0"/>
              <a:t>Doit être installé sur la machine du client -&gt; police système</a:t>
            </a:r>
          </a:p>
          <a:p>
            <a:endParaRPr lang="fr-FR" dirty="0" smtClean="0"/>
          </a:p>
          <a:p>
            <a:r>
              <a:rPr lang="fr-FR" smtClean="0"/>
              <a:t>5 catégories </a:t>
            </a:r>
            <a:r>
              <a:rPr lang="fr-FR" dirty="0" smtClean="0"/>
              <a:t>de police</a:t>
            </a:r>
          </a:p>
          <a:p>
            <a:pPr lvl="1"/>
            <a:r>
              <a:rPr lang="fr-FR" dirty="0" err="1" smtClean="0"/>
              <a:t>Sérif</a:t>
            </a:r>
            <a:r>
              <a:rPr lang="fr-FR" dirty="0" smtClean="0"/>
              <a:t> :préconisée pour la lecture à l'écran et les textes de petite taille</a:t>
            </a:r>
          </a:p>
          <a:p>
            <a:pPr lvl="1"/>
            <a:r>
              <a:rPr lang="fr-FR" dirty="0" smtClean="0"/>
              <a:t>Sans </a:t>
            </a:r>
            <a:r>
              <a:rPr lang="fr-FR" dirty="0" err="1" smtClean="0"/>
              <a:t>sérif</a:t>
            </a:r>
            <a:r>
              <a:rPr lang="fr-FR" dirty="0" smtClean="0"/>
              <a:t> :</a:t>
            </a:r>
          </a:p>
          <a:p>
            <a:pPr lvl="1"/>
            <a:r>
              <a:rPr lang="fr-FR" dirty="0" smtClean="0"/>
              <a:t>Chasse fixe : présentation de code ou texte brut</a:t>
            </a:r>
          </a:p>
          <a:p>
            <a:pPr lvl="1"/>
            <a:r>
              <a:rPr lang="fr-FR" dirty="0" smtClean="0"/>
              <a:t>Manuscrite : moins utilisée pour site professionnels</a:t>
            </a:r>
          </a:p>
          <a:p>
            <a:pPr lvl="1"/>
            <a:r>
              <a:rPr lang="fr-FR" dirty="0" smtClean="0"/>
              <a:t>Fantaisie :</a:t>
            </a:r>
          </a:p>
        </p:txBody>
      </p:sp>
      <p:grpSp>
        <p:nvGrpSpPr>
          <p:cNvPr id="4" name="Groupe 4"/>
          <p:cNvGrpSpPr/>
          <p:nvPr/>
        </p:nvGrpSpPr>
        <p:grpSpPr>
          <a:xfrm>
            <a:off x="-4780" y="6407747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>
            <a:normAutofit fontScale="90000"/>
          </a:bodyPr>
          <a:lstStyle/>
          <a:p>
            <a:r>
              <a:rPr lang="fr-FR" dirty="0" smtClean="0"/>
              <a:t>Les propriétés sur le texte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525963"/>
          </a:xfrm>
        </p:spPr>
        <p:txBody>
          <a:bodyPr>
            <a:normAutofit fontScale="55000" lnSpcReduction="20000"/>
          </a:bodyPr>
          <a:lstStyle/>
          <a:p>
            <a:r>
              <a:rPr lang="en-CA" dirty="0" smtClean="0"/>
              <a:t>font-family (nom de la police et </a:t>
            </a:r>
            <a:r>
              <a:rPr lang="en-CA" dirty="0" err="1" smtClean="0"/>
              <a:t>categorie</a:t>
            </a:r>
            <a:r>
              <a:rPr lang="en-CA" dirty="0" smtClean="0"/>
              <a:t>) : type de police</a:t>
            </a:r>
          </a:p>
          <a:p>
            <a:pPr lvl="1">
              <a:buNone/>
            </a:pPr>
            <a:r>
              <a:rPr lang="en-CA" dirty="0" smtClean="0"/>
              <a:t>font-family : Verdana, Arial, sans-serif;</a:t>
            </a:r>
          </a:p>
          <a:p>
            <a:r>
              <a:rPr lang="en-CA" dirty="0" smtClean="0"/>
              <a:t>font-size (</a:t>
            </a:r>
            <a:r>
              <a:rPr lang="en-CA" dirty="0" err="1" smtClean="0"/>
              <a:t>valeur</a:t>
            </a:r>
            <a:r>
              <a:rPr lang="en-CA" dirty="0" smtClean="0"/>
              <a:t>) : </a:t>
            </a:r>
            <a:r>
              <a:rPr lang="en-CA" dirty="0" err="1" smtClean="0"/>
              <a:t>taille</a:t>
            </a:r>
            <a:r>
              <a:rPr lang="en-CA" dirty="0" smtClean="0"/>
              <a:t> du </a:t>
            </a:r>
            <a:r>
              <a:rPr lang="en-CA" dirty="0" err="1" smtClean="0"/>
              <a:t>texte</a:t>
            </a:r>
            <a:endParaRPr lang="fr-FR" dirty="0" smtClean="0"/>
          </a:p>
          <a:p>
            <a:r>
              <a:rPr lang="fr-FR" dirty="0" smtClean="0"/>
              <a:t>font-</a:t>
            </a:r>
            <a:r>
              <a:rPr lang="fr-FR" dirty="0" err="1" smtClean="0"/>
              <a:t>weight</a:t>
            </a:r>
            <a:r>
              <a:rPr lang="fr-FR" dirty="0" smtClean="0"/>
              <a:t> (normal/bold) : </a:t>
            </a:r>
            <a:r>
              <a:rPr lang="fr-FR" dirty="0" err="1" smtClean="0"/>
              <a:t>epaisseur</a:t>
            </a:r>
            <a:r>
              <a:rPr lang="fr-FR" dirty="0" smtClean="0"/>
              <a:t> du texte	</a:t>
            </a:r>
          </a:p>
          <a:p>
            <a:r>
              <a:rPr lang="fr-FR" dirty="0" smtClean="0"/>
              <a:t>font-style (normal/bold) : </a:t>
            </a:r>
            <a:r>
              <a:rPr lang="fr-FR" dirty="0" err="1" smtClean="0"/>
              <a:t>italic</a:t>
            </a:r>
            <a:r>
              <a:rPr lang="fr-FR" dirty="0" smtClean="0"/>
              <a:t> ou non</a:t>
            </a:r>
          </a:p>
          <a:p>
            <a:r>
              <a:rPr lang="fr-FR" dirty="0" err="1" smtClean="0"/>
              <a:t>color</a:t>
            </a:r>
            <a:r>
              <a:rPr lang="fr-FR" dirty="0" smtClean="0"/>
              <a:t> (valeur) : couleur du texte</a:t>
            </a:r>
          </a:p>
          <a:p>
            <a:r>
              <a:rPr lang="fr-FR" dirty="0" err="1" smtClean="0"/>
              <a:t>text</a:t>
            </a:r>
            <a:r>
              <a:rPr lang="fr-FR" dirty="0" smtClean="0"/>
              <a:t>-</a:t>
            </a:r>
            <a:r>
              <a:rPr lang="fr-FR" dirty="0" err="1" smtClean="0"/>
              <a:t>decoration</a:t>
            </a:r>
            <a:r>
              <a:rPr lang="fr-FR" dirty="0" smtClean="0"/>
              <a:t> (none/</a:t>
            </a:r>
            <a:r>
              <a:rPr lang="fr-FR" dirty="0" err="1" smtClean="0"/>
              <a:t>underline</a:t>
            </a:r>
            <a:r>
              <a:rPr lang="fr-FR" dirty="0" smtClean="0"/>
              <a:t>/</a:t>
            </a:r>
            <a:r>
              <a:rPr lang="fr-FR" dirty="0" err="1" smtClean="0"/>
              <a:t>overline</a:t>
            </a:r>
            <a:r>
              <a:rPr lang="fr-FR" dirty="0" smtClean="0"/>
              <a:t>/line-</a:t>
            </a:r>
            <a:r>
              <a:rPr lang="fr-FR" dirty="0" err="1" smtClean="0"/>
              <a:t>throug</a:t>
            </a:r>
            <a:r>
              <a:rPr lang="fr-FR" dirty="0" smtClean="0"/>
              <a:t>/</a:t>
            </a:r>
            <a:r>
              <a:rPr lang="fr-FR" dirty="0" err="1" smtClean="0"/>
              <a:t>blink</a:t>
            </a:r>
            <a:r>
              <a:rPr lang="fr-FR" dirty="0" smtClean="0"/>
              <a:t>) : </a:t>
            </a:r>
            <a:r>
              <a:rPr lang="fr-FR" dirty="0" err="1" smtClean="0"/>
              <a:t>decoration</a:t>
            </a:r>
            <a:r>
              <a:rPr lang="fr-FR" dirty="0" smtClean="0"/>
              <a:t> du texte</a:t>
            </a:r>
          </a:p>
          <a:p>
            <a:r>
              <a:rPr lang="fr-FR" dirty="0" smtClean="0"/>
              <a:t>texte-</a:t>
            </a:r>
            <a:r>
              <a:rPr lang="fr-FR" dirty="0" err="1" smtClean="0"/>
              <a:t>transform</a:t>
            </a:r>
            <a:r>
              <a:rPr lang="fr-FR" dirty="0" smtClean="0"/>
              <a:t> (none/</a:t>
            </a:r>
            <a:r>
              <a:rPr lang="fr-FR" dirty="0" err="1" smtClean="0"/>
              <a:t>lowercase</a:t>
            </a:r>
            <a:r>
              <a:rPr lang="fr-FR" dirty="0" smtClean="0"/>
              <a:t>/</a:t>
            </a:r>
            <a:r>
              <a:rPr lang="fr-FR" dirty="0" err="1" smtClean="0"/>
              <a:t>uppercase</a:t>
            </a:r>
            <a:r>
              <a:rPr lang="fr-FR" dirty="0" smtClean="0"/>
              <a:t>/</a:t>
            </a:r>
            <a:r>
              <a:rPr lang="fr-FR" dirty="0" err="1" smtClean="0"/>
              <a:t>capitalize</a:t>
            </a:r>
            <a:r>
              <a:rPr lang="fr-FR" dirty="0" smtClean="0"/>
              <a:t>) : joue sur majuscule minuscule</a:t>
            </a:r>
          </a:p>
          <a:p>
            <a:r>
              <a:rPr lang="fr-FR" dirty="0" smtClean="0"/>
              <a:t>line-</a:t>
            </a:r>
            <a:r>
              <a:rPr lang="fr-FR" dirty="0" err="1" smtClean="0"/>
              <a:t>height</a:t>
            </a:r>
            <a:r>
              <a:rPr lang="fr-FR" dirty="0" smtClean="0"/>
              <a:t> (valeur) : espace entre les lignes d'un paragraphe</a:t>
            </a:r>
          </a:p>
          <a:p>
            <a:r>
              <a:rPr lang="fr-FR" dirty="0" err="1" smtClean="0"/>
              <a:t>letter</a:t>
            </a:r>
            <a:r>
              <a:rPr lang="fr-FR" dirty="0" smtClean="0"/>
              <a:t>-</a:t>
            </a:r>
            <a:r>
              <a:rPr lang="fr-FR" dirty="0" err="1" smtClean="0"/>
              <a:t>spacing</a:t>
            </a:r>
            <a:r>
              <a:rPr lang="fr-FR" dirty="0" smtClean="0"/>
              <a:t> (valeur) : espace entre les lettre</a:t>
            </a:r>
          </a:p>
          <a:p>
            <a:r>
              <a:rPr lang="fr-FR" dirty="0" err="1" smtClean="0"/>
              <a:t>word</a:t>
            </a:r>
            <a:r>
              <a:rPr lang="fr-FR" dirty="0" smtClean="0"/>
              <a:t>-</a:t>
            </a:r>
            <a:r>
              <a:rPr lang="fr-FR" dirty="0" err="1" smtClean="0"/>
              <a:t>spacing</a:t>
            </a:r>
            <a:r>
              <a:rPr lang="fr-FR" dirty="0" smtClean="0"/>
              <a:t> (valeur) : espace entre les mots</a:t>
            </a:r>
          </a:p>
          <a:p>
            <a:r>
              <a:rPr lang="fr-FR" dirty="0" err="1" smtClean="0"/>
              <a:t>text</a:t>
            </a:r>
            <a:r>
              <a:rPr lang="fr-FR" dirty="0" smtClean="0"/>
              <a:t>-</a:t>
            </a:r>
            <a:r>
              <a:rPr lang="fr-FR" dirty="0" err="1" smtClean="0"/>
              <a:t>align</a:t>
            </a:r>
            <a:r>
              <a:rPr lang="fr-FR" dirty="0" smtClean="0"/>
              <a:t> (</a:t>
            </a:r>
            <a:r>
              <a:rPr lang="fr-FR" dirty="0" err="1" smtClean="0"/>
              <a:t>left</a:t>
            </a:r>
            <a:r>
              <a:rPr lang="fr-FR" dirty="0" smtClean="0"/>
              <a:t>/right/center/</a:t>
            </a:r>
            <a:r>
              <a:rPr lang="fr-FR" dirty="0" err="1" smtClean="0"/>
              <a:t>justify</a:t>
            </a:r>
            <a:r>
              <a:rPr lang="fr-FR" dirty="0" smtClean="0"/>
              <a:t>) : justification du texte</a:t>
            </a:r>
          </a:p>
        </p:txBody>
      </p:sp>
      <p:grpSp>
        <p:nvGrpSpPr>
          <p:cNvPr id="4" name="Groupe 4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ln>
            <a:solidFill>
              <a:srgbClr val="C00000"/>
            </a:solidFill>
          </a:ln>
        </p:spPr>
        <p:txBody>
          <a:bodyPr>
            <a:normAutofit fontScale="90000"/>
          </a:bodyPr>
          <a:lstStyle/>
          <a:p>
            <a:r>
              <a:rPr lang="fr-FR" dirty="0" smtClean="0"/>
              <a:t>Les propriétés sur les blocs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7544" y="1556792"/>
            <a:ext cx="8208912" cy="4525963"/>
          </a:xfrm>
        </p:spPr>
        <p:txBody>
          <a:bodyPr>
            <a:normAutofit fontScale="55000" lnSpcReduction="20000"/>
          </a:bodyPr>
          <a:lstStyle/>
          <a:p>
            <a:r>
              <a:rPr lang="fr-FR" dirty="0" smtClean="0"/>
              <a:t>border-</a:t>
            </a:r>
            <a:r>
              <a:rPr lang="fr-FR" dirty="0" err="1" smtClean="0"/>
              <a:t>width</a:t>
            </a:r>
            <a:r>
              <a:rPr lang="fr-FR" dirty="0" smtClean="0"/>
              <a:t> (valeur) : taille de la bordure</a:t>
            </a:r>
          </a:p>
          <a:p>
            <a:r>
              <a:rPr lang="fr-FR" dirty="0" smtClean="0"/>
              <a:t>border-style (</a:t>
            </a:r>
            <a:r>
              <a:rPr lang="fr-FR" dirty="0" err="1" smtClean="0"/>
              <a:t>solid</a:t>
            </a:r>
            <a:r>
              <a:rPr lang="fr-FR" dirty="0" smtClean="0"/>
              <a:t>/double/</a:t>
            </a:r>
            <a:r>
              <a:rPr lang="fr-FR" dirty="0" err="1" smtClean="0"/>
              <a:t>dotted</a:t>
            </a:r>
            <a:r>
              <a:rPr lang="fr-FR" dirty="0" smtClean="0"/>
              <a:t>/...) : type de la bordure</a:t>
            </a:r>
          </a:p>
          <a:p>
            <a:r>
              <a:rPr lang="fr-FR" dirty="0" smtClean="0"/>
              <a:t>border-</a:t>
            </a:r>
            <a:r>
              <a:rPr lang="fr-FR" dirty="0" err="1" smtClean="0"/>
              <a:t>color</a:t>
            </a:r>
            <a:r>
              <a:rPr lang="fr-FR" dirty="0" smtClean="0"/>
              <a:t> (valeur) : couleur de la bordure</a:t>
            </a:r>
          </a:p>
          <a:p>
            <a:r>
              <a:rPr lang="fr-FR" dirty="0" smtClean="0"/>
              <a:t>Existe une propriété raccourcie pour les bordures. Elle regroupe plusieurs propriétés CSS en une</a:t>
            </a:r>
          </a:p>
          <a:p>
            <a:pPr>
              <a:buNone/>
            </a:pPr>
            <a:r>
              <a:rPr lang="fr-FR" dirty="0" smtClean="0"/>
              <a:t>border : 1px </a:t>
            </a:r>
            <a:r>
              <a:rPr lang="fr-FR" dirty="0" err="1" smtClean="0"/>
              <a:t>solid</a:t>
            </a:r>
            <a:r>
              <a:rPr lang="fr-FR" dirty="0" smtClean="0"/>
              <a:t> </a:t>
            </a:r>
            <a:r>
              <a:rPr lang="fr-FR" dirty="0" err="1" smtClean="0"/>
              <a:t>red</a:t>
            </a:r>
            <a:r>
              <a:rPr lang="fr-FR" dirty="0" smtClean="0"/>
              <a:t>;</a:t>
            </a:r>
          </a:p>
          <a:p>
            <a:pPr>
              <a:buNone/>
            </a:pPr>
            <a:r>
              <a:rPr lang="fr-FR" dirty="0" smtClean="0"/>
              <a:t>border-</a:t>
            </a:r>
            <a:r>
              <a:rPr lang="fr-FR" dirty="0" err="1" smtClean="0"/>
              <a:t>left</a:t>
            </a:r>
            <a:r>
              <a:rPr lang="fr-FR" dirty="0" smtClean="0"/>
              <a:t>: 4px </a:t>
            </a:r>
            <a:r>
              <a:rPr lang="fr-FR" dirty="0" err="1" smtClean="0"/>
              <a:t>dotted</a:t>
            </a:r>
            <a:r>
              <a:rPr lang="fr-FR" dirty="0" smtClean="0"/>
              <a:t> </a:t>
            </a:r>
            <a:r>
              <a:rPr lang="fr-FR" dirty="0" err="1" smtClean="0"/>
              <a:t>blue</a:t>
            </a:r>
            <a:r>
              <a:rPr lang="fr-FR" dirty="0" smtClean="0"/>
              <a:t>;</a:t>
            </a:r>
          </a:p>
          <a:p>
            <a:r>
              <a:rPr lang="fr-FR" dirty="0" smtClean="0"/>
              <a:t>background-</a:t>
            </a:r>
            <a:r>
              <a:rPr lang="fr-FR" dirty="0" err="1" smtClean="0"/>
              <a:t>color</a:t>
            </a:r>
            <a:r>
              <a:rPr lang="fr-FR" dirty="0" smtClean="0"/>
              <a:t> (valeur) : couleur d'arrière plan du bloc</a:t>
            </a:r>
          </a:p>
          <a:p>
            <a:r>
              <a:rPr lang="fr-FR" dirty="0" smtClean="0"/>
              <a:t>background-image (url('imageUrl.jpg')) : image d'arrière plan</a:t>
            </a:r>
          </a:p>
          <a:p>
            <a:r>
              <a:rPr lang="fr-FR" dirty="0" smtClean="0"/>
              <a:t>background-</a:t>
            </a:r>
            <a:r>
              <a:rPr lang="fr-FR" dirty="0" err="1" smtClean="0"/>
              <a:t>repeat</a:t>
            </a:r>
            <a:r>
              <a:rPr lang="fr-FR" dirty="0" smtClean="0"/>
              <a:t> (</a:t>
            </a:r>
            <a:r>
              <a:rPr lang="fr-FR" dirty="0" err="1" smtClean="0"/>
              <a:t>repeat</a:t>
            </a:r>
            <a:r>
              <a:rPr lang="fr-FR" dirty="0" smtClean="0"/>
              <a:t>/</a:t>
            </a:r>
            <a:r>
              <a:rPr lang="fr-FR" dirty="0" err="1" smtClean="0"/>
              <a:t>repeat</a:t>
            </a:r>
            <a:r>
              <a:rPr lang="fr-FR" dirty="0" smtClean="0"/>
              <a:t>-x/</a:t>
            </a:r>
            <a:r>
              <a:rPr lang="fr-FR" dirty="0" err="1" smtClean="0"/>
              <a:t>repeat</a:t>
            </a:r>
            <a:r>
              <a:rPr lang="fr-FR" dirty="0" smtClean="0"/>
              <a:t>-y/no-</a:t>
            </a:r>
            <a:r>
              <a:rPr lang="fr-FR" dirty="0" err="1" smtClean="0"/>
              <a:t>repeat</a:t>
            </a:r>
            <a:r>
              <a:rPr lang="fr-FR" dirty="0" smtClean="0"/>
              <a:t>) : si l image ne prend pas tous l'espace, comment la répéter.</a:t>
            </a:r>
          </a:p>
          <a:p>
            <a:r>
              <a:rPr lang="fr-FR" dirty="0" smtClean="0"/>
              <a:t>background-position (valeur </a:t>
            </a:r>
            <a:r>
              <a:rPr lang="fr-FR" dirty="0" err="1" smtClean="0"/>
              <a:t>valeur</a:t>
            </a:r>
            <a:r>
              <a:rPr lang="fr-FR" dirty="0" smtClean="0"/>
              <a:t>) : position de l'image d'arrière plan</a:t>
            </a:r>
          </a:p>
          <a:p>
            <a:pPr lvl="1">
              <a:buNone/>
            </a:pPr>
            <a:r>
              <a:rPr lang="fr-FR" dirty="0" smtClean="0"/>
              <a:t>background-position: </a:t>
            </a:r>
            <a:r>
              <a:rPr lang="fr-FR" dirty="0" err="1" smtClean="0"/>
              <a:t>left</a:t>
            </a:r>
            <a:r>
              <a:rPr lang="fr-FR" dirty="0" smtClean="0"/>
              <a:t> top;</a:t>
            </a:r>
          </a:p>
          <a:p>
            <a:pPr lvl="1">
              <a:buNone/>
            </a:pPr>
            <a:r>
              <a:rPr lang="fr-FR" dirty="0" smtClean="0"/>
              <a:t>background-position: 50px </a:t>
            </a:r>
            <a:r>
              <a:rPr lang="fr-FR" dirty="0" err="1" smtClean="0"/>
              <a:t>50px</a:t>
            </a:r>
            <a:r>
              <a:rPr lang="fr-FR" dirty="0" smtClean="0"/>
              <a:t>;</a:t>
            </a:r>
          </a:p>
          <a:p>
            <a:r>
              <a:rPr lang="fr-FR" dirty="0" smtClean="0"/>
              <a:t>background-</a:t>
            </a:r>
            <a:r>
              <a:rPr lang="fr-FR" dirty="0" err="1" smtClean="0"/>
              <a:t>attachment</a:t>
            </a:r>
            <a:r>
              <a:rPr lang="fr-FR" dirty="0" smtClean="0"/>
              <a:t> (</a:t>
            </a:r>
            <a:r>
              <a:rPr lang="fr-FR" dirty="0" err="1" smtClean="0"/>
              <a:t>fixed</a:t>
            </a:r>
            <a:r>
              <a:rPr lang="fr-FR" dirty="0" smtClean="0"/>
              <a:t>/scroll) : comment l'image se comporte au défilement de la page</a:t>
            </a:r>
          </a:p>
          <a:p>
            <a:pPr lvl="1">
              <a:buNone/>
            </a:pPr>
            <a:endParaRPr lang="fr-FR" dirty="0" smtClean="0"/>
          </a:p>
          <a:p>
            <a:endParaRPr lang="fr-FR" dirty="0" smtClean="0"/>
          </a:p>
        </p:txBody>
      </p:sp>
      <p:grpSp>
        <p:nvGrpSpPr>
          <p:cNvPr id="4" name="Groupe 4"/>
          <p:cNvGrpSpPr/>
          <p:nvPr/>
        </p:nvGrpSpPr>
        <p:grpSpPr>
          <a:xfrm>
            <a:off x="0" y="6381329"/>
            <a:ext cx="9144000" cy="144016"/>
            <a:chOff x="0" y="6381329"/>
            <a:chExt cx="9144000" cy="144016"/>
          </a:xfrm>
        </p:grpSpPr>
        <p:sp>
          <p:nvSpPr>
            <p:cNvPr id="6" name="Rectangle 5"/>
            <p:cNvSpPr/>
            <p:nvPr/>
          </p:nvSpPr>
          <p:spPr>
            <a:xfrm>
              <a:off x="0" y="6381329"/>
              <a:ext cx="817240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8532440" y="6381329"/>
              <a:ext cx="611560" cy="144016"/>
            </a:xfrm>
            <a:prstGeom prst="rect">
              <a:avLst/>
            </a:prstGeom>
            <a:solidFill>
              <a:srgbClr val="E13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Is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 ISI">
      <a:majorFont>
        <a:latin typeface="Consolas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ThèmeIsi</Template>
  <TotalTime>1034</TotalTime>
  <Words>640</Words>
  <Application>Microsoft Office PowerPoint</Application>
  <PresentationFormat>Affichage à l'écran (4:3)</PresentationFormat>
  <Paragraphs>208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3" baseType="lpstr">
      <vt:lpstr>Arial</vt:lpstr>
      <vt:lpstr>Consolas</vt:lpstr>
      <vt:lpstr>ThèmeIsi</vt:lpstr>
      <vt:lpstr>XHTML-HTML5-CSS3</vt:lpstr>
      <vt:lpstr>Introduction - CSS, c'est quoi ?</vt:lpstr>
      <vt:lpstr>Les versions</vt:lpstr>
      <vt:lpstr>Ajouter du CSS</vt:lpstr>
      <vt:lpstr>Ajouter du CSS</vt:lpstr>
      <vt:lpstr>Syntaxe du CSS</vt:lpstr>
      <vt:lpstr>Sélecteurs CSS</vt:lpstr>
      <vt:lpstr>Sélecteurs de class</vt:lpstr>
      <vt:lpstr>Sélecteurs d'identifiant</vt:lpstr>
      <vt:lpstr>Sélecteurs d'attribut</vt:lpstr>
      <vt:lpstr>Notion enfant/parent</vt:lpstr>
      <vt:lpstr>Notion enfant/parent</vt:lpstr>
      <vt:lpstr>Sélecteurs de "Généalogie"</vt:lpstr>
      <vt:lpstr>Sélecteurs :pseudo-class</vt:lpstr>
      <vt:lpstr>Regrouper les sélecteurs</vt:lpstr>
      <vt:lpstr>Les couleurs en CSS</vt:lpstr>
      <vt:lpstr>Unités de taille</vt:lpstr>
      <vt:lpstr>Les polices de caractères</vt:lpstr>
      <vt:lpstr>Les propriétés sur le texte</vt:lpstr>
      <vt:lpstr>Les propriétés sur les blocs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P89 - XHTML-HTML5-CSS3</dc:title>
  <dc:creator>Jean-François Lidou</dc:creator>
  <cp:lastModifiedBy>Salahudine Salih</cp:lastModifiedBy>
  <cp:revision>103</cp:revision>
  <dcterms:created xsi:type="dcterms:W3CDTF">2016-08-15T18:52:13Z</dcterms:created>
  <dcterms:modified xsi:type="dcterms:W3CDTF">2018-05-04T01:16:36Z</dcterms:modified>
</cp:coreProperties>
</file>